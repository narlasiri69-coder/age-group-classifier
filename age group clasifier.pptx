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type="screen16x9" cy="6858000" cx="12192000"/>
  <p:notesSz cx="6858000" cy="9144000"/>
  <p:defaultTextStyle>
    <a:defPPr>
      <a:defRPr lang="en-US"/>
    </a:defPPr>
    <a:lvl1pPr algn="l" defTabSz="4572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tableStyles" Target="tableStyles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3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34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735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736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737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3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title">
  <p:cSld name="Title Slide"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048589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ah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en-IN"/>
            </a:p>
          </p:txBody>
        </p:sp>
        <p:cxnSp>
          <p:nvCxnSpPr>
            <p:cNvPr id="3145730" name="Straight Connector 18"/>
            <p:cNvCxnSpPr>
              <a:cxnSpLocks/>
            </p:cNvCxnSpPr>
            <p:nvPr/>
          </p:nvCxnSpPr>
          <p:spPr>
            <a:xfrm>
              <a:off x="9371012" y="0"/>
              <a:ext cx="1219200" cy="6858000"/>
            </a:xfrm>
            <a:prstGeom prst="line"/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31" name="Straight Connector 19"/>
            <p:cNvCxnSpPr>
              <a:cxnSpLocks/>
            </p:cNvCxnSpPr>
            <p:nvPr/>
          </p:nvCxnSpPr>
          <p:spPr>
            <a:xfrm flipH="1">
              <a:off x="7425267" y="3681413"/>
              <a:ext cx="4763558" cy="3176587"/>
            </a:xfrm>
            <a:prstGeom prst="line"/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8590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ah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en-IN"/>
            </a:p>
          </p:txBody>
        </p:sp>
        <p:sp>
          <p:nvSpPr>
            <p:cNvPr id="1048591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ah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en-IN"/>
            </a:p>
          </p:txBody>
        </p:sp>
        <p:sp>
          <p:nvSpPr>
            <p:cNvPr id="1048592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en-IN"/>
            </a:p>
          </p:txBody>
        </p:sp>
        <p:sp>
          <p:nvSpPr>
            <p:cNvPr id="1048593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ah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en-IN"/>
            </a:p>
          </p:txBody>
        </p:sp>
        <p:sp>
          <p:nvSpPr>
            <p:cNvPr id="1048594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ah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en-IN"/>
            </a:p>
          </p:txBody>
        </p:sp>
        <p:sp>
          <p:nvSpPr>
            <p:cNvPr id="1048595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ah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en-IN"/>
            </a:p>
          </p:txBody>
        </p:sp>
        <p:sp>
          <p:nvSpPr>
            <p:cNvPr id="1048596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en-IN"/>
            </a:p>
          </p:txBody>
        </p:sp>
      </p:grpSp>
      <p:sp>
        <p:nvSpPr>
          <p:cNvPr id="1048597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598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algn="r" indent="0" marL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 lang="en-US"/>
          </a:p>
        </p:txBody>
      </p:sp>
      <p:sp>
        <p:nvSpPr>
          <p:cNvPr id="104859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C852E8E-6951-4A52-B78E-6B9183E3778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104860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0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obj">
  <p:cSld name="Title and Content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06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0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C852E8E-6951-4A52-B78E-6B9183E3778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104860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0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secHead">
  <p:cSld name="Section Header"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3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b="0" cap="none" sz="40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94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algn="l" indent="0" marL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9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C852E8E-6951-4A52-B78E-6B9183E3778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104869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9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twoObj">
  <p:cSld name="Two Content"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42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43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4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C852E8E-6951-4A52-B78E-6B9183E3778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104864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4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twoTxTwoObj">
  <p:cSld name="Comparison"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99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indent="0" marL="0">
              <a:buNone/>
              <a:defRPr b="0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00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701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indent="0" marL="0">
              <a:buNone/>
              <a:defRPr b="0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02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703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C852E8E-6951-4A52-B78E-6B9183E3778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1048704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705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titleOnly">
  <p:cSld name="Title Only"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0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71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C852E8E-6951-4A52-B78E-6B9183E3778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1048672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7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blank">
  <p:cSld name="Blank"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C852E8E-6951-4A52-B78E-6B9183E3778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104865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5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objTx">
  <p:cSld name="Content with Caption">
    <p:spTree>
      <p:nvGrpSpPr>
        <p:cNvPr id="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2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72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indent="0" marL="0">
              <a:buNone/>
              <a:defRPr sz="1400"/>
            </a:lvl1pPr>
            <a:lvl2pPr indent="0" marL="457063">
              <a:buNone/>
              <a:defRPr sz="1400"/>
            </a:lvl2pPr>
            <a:lvl3pPr indent="0" marL="914126">
              <a:buNone/>
              <a:defRPr sz="1200"/>
            </a:lvl3pPr>
            <a:lvl4pPr indent="0" marL="1371189">
              <a:buNone/>
              <a:defRPr sz="1000"/>
            </a:lvl4pPr>
            <a:lvl5pPr indent="0" marL="1828251">
              <a:buNone/>
              <a:defRPr sz="1000"/>
            </a:lvl5pPr>
            <a:lvl6pPr indent="0" marL="2285314">
              <a:buNone/>
              <a:defRPr sz="1000"/>
            </a:lvl6pPr>
            <a:lvl7pPr indent="0" marL="2742377">
              <a:buNone/>
              <a:defRPr sz="1000"/>
            </a:lvl7pPr>
            <a:lvl8pPr indent="0" marL="3199440">
              <a:buNone/>
              <a:defRPr sz="1000"/>
            </a:lvl8pPr>
            <a:lvl9pPr indent="0" marL="3656503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2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C852E8E-6951-4A52-B78E-6B9183E3778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104872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72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picTx">
  <p:cSld name="Picture with Caption"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b="0" sz="24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83" name="Picture Placeholder 2"/>
          <p:cNvSpPr>
            <a:spLocks noChangeAspect="1" noGrp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algn="ctr" indent="0" marL="0">
              <a:buNone/>
              <a:defRPr sz="1600"/>
            </a:lvl1pPr>
            <a:lvl2pPr indent="0" marL="457200">
              <a:buNone/>
              <a:defRPr sz="1600"/>
            </a:lvl2pPr>
            <a:lvl3pPr indent="0" marL="914400">
              <a:buNone/>
              <a:defRPr sz="1600"/>
            </a:lvl3pPr>
            <a:lvl4pPr indent="0" marL="1371600">
              <a:buNone/>
              <a:defRPr sz="1600"/>
            </a:lvl4pPr>
            <a:lvl5pPr indent="0" marL="1828800">
              <a:buNone/>
              <a:defRPr sz="1600"/>
            </a:lvl5pPr>
            <a:lvl6pPr indent="0" marL="2286000">
              <a:buNone/>
              <a:defRPr sz="1600"/>
            </a:lvl6pPr>
            <a:lvl7pPr indent="0" marL="2743200">
              <a:buNone/>
              <a:defRPr sz="1600"/>
            </a:lvl7pPr>
            <a:lvl8pPr indent="0" marL="3200400">
              <a:buNone/>
              <a:defRPr sz="1600"/>
            </a:lvl8pPr>
            <a:lvl9pPr indent="0" marL="365760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dirty="0" lang="en-US"/>
          </a:p>
        </p:txBody>
      </p:sp>
      <p:sp>
        <p:nvSpPr>
          <p:cNvPr id="104868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indent="0" marL="0">
              <a:buNone/>
              <a:defRPr sz="12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8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  <p:sp>
        <p:nvSpPr>
          <p:cNvPr id="104868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C852E8E-6951-4A52-B78E-6B9183E37783}" type="datetimeFigureOut">
              <a:rPr lang="en-IN" smtClean="0"/>
              <a:t>04-12-2025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Title and Caption">
    <p:spTree>
      <p:nvGrpSpPr>
        <p:cNvPr id="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1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b="0" cap="none" sz="44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12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algn="l" indent="0" marL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1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C852E8E-6951-4A52-B78E-6B9183E3778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104871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71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Quote with Caption"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4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b="0" cap="none" sz="44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75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indent="0" marL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indent="0" marL="457200">
              <a:buFontTx/>
              <a:buNone/>
            </a:lvl2pPr>
            <a:lvl3pPr indent="0" marL="914400">
              <a:buFontTx/>
              <a:buNone/>
            </a:lvl3pPr>
            <a:lvl4pPr indent="0" marL="1371600">
              <a:buFontTx/>
              <a:buNone/>
            </a:lvl4pPr>
            <a:lvl5pPr indent="0" marL="1828800">
              <a:buFontTx/>
              <a:buNone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6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algn="l" indent="0" marL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C852E8E-6951-4A52-B78E-6B9183E3778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104867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7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  <p:sp>
        <p:nvSpPr>
          <p:cNvPr id="1048680" name="TextBox 23"/>
          <p:cNvSpPr txBox="1"/>
          <p:nvPr/>
        </p:nvSpPr>
        <p:spPr>
          <a:xfrm>
            <a:off x="541870" y="790378"/>
            <a:ext cx="609600" cy="584776"/>
          </a:xfrm>
          <a:prstGeom prst="rect"/>
        </p:spPr>
        <p:txBody>
          <a:bodyPr anchor="ctr" bIns="45720" lIns="91440" rIns="91440" rtlCol="0" tIns="45720" vert="horz">
            <a:noAutofit/>
          </a:bodyPr>
          <a:p>
            <a:pPr lvl="0"/>
            <a:r>
              <a:rPr baseline="0" dirty="0" sz="8000" lang="en-US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048681" name="TextBox 24"/>
          <p:cNvSpPr txBox="1"/>
          <p:nvPr/>
        </p:nvSpPr>
        <p:spPr>
          <a:xfrm>
            <a:off x="8893011" y="2886556"/>
            <a:ext cx="609600" cy="584776"/>
          </a:xfrm>
          <a:prstGeom prst="rect"/>
        </p:spPr>
        <p:txBody>
          <a:bodyPr anchor="ctr" bIns="45720" lIns="91440" rIns="91440" rtlCol="0" tIns="45720" vert="horz">
            <a:noAutofit/>
          </a:bodyPr>
          <a:p>
            <a:pPr lvl="0"/>
            <a:r>
              <a:rPr baseline="0" dirty="0" sz="8000" lang="en-US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Name Card"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6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b="0" cap="none" sz="44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07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algn="l" indent="0" marL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0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C852E8E-6951-4A52-B78E-6B9183E3778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104870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7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Quote Name Card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b="0" cap="none" sz="44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6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indent="0" marL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marL="457200">
              <a:buFontTx/>
              <a:buNone/>
            </a:lvl2pPr>
            <a:lvl3pPr indent="0" marL="914400">
              <a:buFontTx/>
              <a:buNone/>
            </a:lvl3pPr>
            <a:lvl4pPr indent="0" marL="1371600">
              <a:buFontTx/>
              <a:buNone/>
            </a:lvl4pPr>
            <a:lvl5pPr indent="0" marL="1828800">
              <a:buFontTx/>
              <a:buNone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1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algn="l" indent="0" marL="0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C852E8E-6951-4A52-B78E-6B9183E3778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104866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6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  <p:sp>
        <p:nvSpPr>
          <p:cNvPr id="1048665" name="TextBox 23"/>
          <p:cNvSpPr txBox="1"/>
          <p:nvPr/>
        </p:nvSpPr>
        <p:spPr>
          <a:xfrm>
            <a:off x="541870" y="790378"/>
            <a:ext cx="609600" cy="584776"/>
          </a:xfrm>
          <a:prstGeom prst="rect"/>
        </p:spPr>
        <p:txBody>
          <a:bodyPr anchor="ctr" bIns="45720" lIns="91440" rIns="91440" rtlCol="0" tIns="45720" vert="horz">
            <a:noAutofit/>
          </a:bodyPr>
          <a:p>
            <a:pPr lvl="0"/>
            <a:r>
              <a:rPr baseline="0" dirty="0" sz="8000" lang="en-US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048666" name="TextBox 24"/>
          <p:cNvSpPr txBox="1"/>
          <p:nvPr/>
        </p:nvSpPr>
        <p:spPr>
          <a:xfrm>
            <a:off x="8893011" y="2886556"/>
            <a:ext cx="609600" cy="584776"/>
          </a:xfrm>
          <a:prstGeom prst="rect"/>
        </p:spPr>
        <p:txBody>
          <a:bodyPr anchor="ctr" bIns="45720" lIns="91440" rIns="91440" rtlCol="0" tIns="45720" vert="horz">
            <a:noAutofit/>
          </a:bodyPr>
          <a:p>
            <a:pPr lvl="0"/>
            <a:r>
              <a:rPr baseline="0" dirty="0" sz="8000" lang="en-US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True or False"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6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b="0" cap="none" sz="44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17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indent="0" marL="0">
              <a:buFontTx/>
              <a:buNone/>
              <a:defRPr sz="2400">
                <a:solidFill>
                  <a:schemeClr val="accent1"/>
                </a:solidFill>
              </a:defRPr>
            </a:lvl1pPr>
            <a:lvl2pPr indent="0" marL="457200">
              <a:buFontTx/>
              <a:buNone/>
            </a:lvl2pPr>
            <a:lvl3pPr indent="0" marL="914400">
              <a:buFontTx/>
              <a:buNone/>
            </a:lvl3pPr>
            <a:lvl4pPr indent="0" marL="1371600">
              <a:buFontTx/>
              <a:buNone/>
            </a:lvl4pPr>
            <a:lvl5pPr indent="0" marL="1828800">
              <a:buFontTx/>
              <a:buNone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18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algn="l" indent="0" marL="0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1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C852E8E-6951-4A52-B78E-6B9183E3778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104872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72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vertTx">
  <p:cSld name="Title and Vertical Text"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89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9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C852E8E-6951-4A52-B78E-6B9183E3778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104869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9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vertTitleAndTx">
  <p:cSld name="Vertical Title and Text"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8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anchor="ctr" vert="eaVert"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29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73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C852E8E-6951-4A52-B78E-6B9183E3778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104873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73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image" Target="../media/image1.jpeg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 dpi="0">
          <a:blip xmlns:r="http://schemas.openxmlformats.org/officeDocument/2006/relationships" r:embed="rId17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145728" name="Straight Connector 19"/>
            <p:cNvCxnSpPr>
              <a:cxnSpLocks/>
            </p:cNvCxnSpPr>
            <p:nvPr/>
          </p:nvCxnSpPr>
          <p:spPr>
            <a:xfrm>
              <a:off x="9371012" y="0"/>
              <a:ext cx="1219200" cy="6858000"/>
            </a:xfrm>
            <a:prstGeom prst="line"/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29" name="Straight Connector 20"/>
            <p:cNvCxnSpPr>
              <a:cxnSpLocks/>
            </p:cNvCxnSpPr>
            <p:nvPr/>
          </p:nvCxnSpPr>
          <p:spPr>
            <a:xfrm flipH="1">
              <a:off x="7425267" y="3681413"/>
              <a:ext cx="4763558" cy="3176587"/>
            </a:xfrm>
            <a:prstGeom prst="line"/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8576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ah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en-IN"/>
            </a:p>
          </p:txBody>
        </p:sp>
        <p:sp>
          <p:nvSpPr>
            <p:cNvPr id="1048577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ah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en-IN"/>
            </a:p>
          </p:txBody>
        </p:sp>
        <p:sp>
          <p:nvSpPr>
            <p:cNvPr id="1048578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en-IN"/>
            </a:p>
          </p:txBody>
        </p:sp>
        <p:sp>
          <p:nvSpPr>
            <p:cNvPr id="1048579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ah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en-IN"/>
            </a:p>
          </p:txBody>
        </p:sp>
        <p:sp>
          <p:nvSpPr>
            <p:cNvPr id="1048580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ah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en-IN"/>
            </a:p>
          </p:txBody>
        </p:sp>
        <p:sp>
          <p:nvSpPr>
            <p:cNvPr id="1048581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ah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en-IN"/>
            </a:p>
          </p:txBody>
        </p:sp>
        <p:sp>
          <p:nvSpPr>
            <p:cNvPr id="1048582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en-IN"/>
            </a:p>
          </p:txBody>
        </p:sp>
        <p:sp>
          <p:nvSpPr>
            <p:cNvPr id="1048583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en-IN"/>
            </a:p>
          </p:txBody>
        </p:sp>
      </p:grpSp>
      <p:sp>
        <p:nvSpPr>
          <p:cNvPr id="1048584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/>
        </p:spPr>
        <p:txBody>
          <a:bodyPr anchor="t" bIns="45720" lIns="91440" rIns="91440" rtlCol="0" tIns="45720" vert="horz">
            <a:normAutofit/>
          </a:bodyPr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585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586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852E8E-6951-4A52-B78E-6B9183E3778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104858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04858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 eaLnBrk="1" hangingPunct="1" latinLnBrk="0" rtl="0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algn="l" defTabSz="457200" eaLnBrk="1" hangingPunct="1" indent="-342900" latinLnBrk="0" marL="3429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Subtitle 2"/>
          <p:cNvSpPr txBox="1"/>
          <p:nvPr/>
        </p:nvSpPr>
        <p:spPr>
          <a:xfrm flipV="1">
            <a:off x="1659467" y="2605849"/>
            <a:ext cx="7766936" cy="1646302"/>
          </a:xfrm>
          <a:prstGeom prst="rect"/>
        </p:spPr>
        <p:txBody>
          <a:bodyPr anchor="t" bIns="45720" lIns="91440" rIns="91440" rtlCol="0" tIns="45720" vert="horz">
            <a:normAutofit/>
          </a:bodyPr>
          <a:lstStyle>
            <a:lvl1pPr algn="r" defTabSz="457200" eaLnBrk="1" hangingPunct="1" indent="0" latinLnBrk="0" marL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algn="ctr" defTabSz="457200" eaLnBrk="1" hangingPunct="1" indent="0" latinLnBrk="0" marL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algn="ctr" defTabSz="457200" eaLnBrk="1" hangingPunct="1" indent="0" latinLnBrk="0" marL="9144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algn="ctr" defTabSz="457200" eaLnBrk="1" hangingPunct="1" indent="0" latinLnBrk="0" marL="13716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algn="ctr" defTabSz="457200" eaLnBrk="1" hangingPunct="1" indent="0" latinLnBrk="0" marL="18288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algn="ctr" defTabSz="457200" eaLnBrk="1" hangingPunct="1" indent="0" latinLnBrk="0" marL="22860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algn="ctr" defTabSz="457200" eaLnBrk="1" hangingPunct="1" indent="0" latinLnBrk="0" marL="2743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algn="ctr" defTabSz="457200" eaLnBrk="1" hangingPunct="1" indent="0" latinLnBrk="0" marL="32004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algn="ctr" defTabSz="457200" eaLnBrk="1" hangingPunct="1" indent="0" latinLnBrk="0" marL="36576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dirty="0" lang="en-IN"/>
          </a:p>
        </p:txBody>
      </p:sp>
      <p:sp>
        <p:nvSpPr>
          <p:cNvPr id="1048603" name="Rectangle: Rounded Corners 8"/>
          <p:cNvSpPr/>
          <p:nvPr/>
        </p:nvSpPr>
        <p:spPr>
          <a:xfrm>
            <a:off x="1860263" y="2498087"/>
            <a:ext cx="8067675" cy="1861826"/>
          </a:xfrm>
          <a:prstGeom prst="roundRect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b="1" dirty="0" sz="3600" lang="en-US">
                <a:solidFill>
                  <a:srgbClr val="0070C0"/>
                </a:solidFill>
              </a:rPr>
              <a:t>AGE GROUP CLASSIFIER </a:t>
            </a:r>
            <a:endParaRPr dirty="0" sz="2400" lang="en-US">
              <a:solidFill>
                <a:srgbClr val="00B0F0"/>
              </a:solidFill>
            </a:endParaRPr>
          </a:p>
        </p:txBody>
      </p:sp>
      <p:sp>
        <p:nvSpPr>
          <p:cNvPr id="1048604" name=""/>
          <p:cNvSpPr txBox="1"/>
          <p:nvPr/>
        </p:nvSpPr>
        <p:spPr>
          <a:xfrm>
            <a:off x="7927938" y="4990785"/>
            <a:ext cx="4000000" cy="929639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>N</a:t>
            </a:r>
            <a:r>
              <a:rPr sz="2800" lang="en-US">
                <a:solidFill>
                  <a:srgbClr val="000000"/>
                </a:solidFill>
              </a:rPr>
              <a:t>.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S</a:t>
            </a:r>
            <a:r>
              <a:rPr sz="2800" lang="en-US">
                <a:solidFill>
                  <a:srgbClr val="000000"/>
                </a:solidFill>
              </a:rPr>
              <a:t>I</a:t>
            </a:r>
            <a:r>
              <a:rPr sz="2800" lang="en-US">
                <a:solidFill>
                  <a:srgbClr val="000000"/>
                </a:solidFill>
              </a:rPr>
              <a:t>R</a:t>
            </a:r>
            <a:r>
              <a:rPr sz="2800" lang="en-US">
                <a:solidFill>
                  <a:srgbClr val="000000"/>
                </a:solidFill>
              </a:rPr>
              <a:t>I</a:t>
            </a:r>
            <a:r>
              <a:rPr sz="2800" lang="en-US">
                <a:solidFill>
                  <a:srgbClr val="000000"/>
                </a:solidFill>
              </a:rPr>
              <a:t>S</a:t>
            </a:r>
            <a:r>
              <a:rPr sz="2800" lang="en-US">
                <a:solidFill>
                  <a:srgbClr val="000000"/>
                </a:solidFill>
              </a:rPr>
              <a:t>H</a:t>
            </a:r>
            <a:r>
              <a:rPr sz="2800" lang="en-US">
                <a:solidFill>
                  <a:srgbClr val="000000"/>
                </a:solidFill>
              </a:rPr>
              <a:t>A 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2</a:t>
            </a:r>
            <a:r>
              <a:rPr sz="2800" lang="en-US">
                <a:solidFill>
                  <a:srgbClr val="000000"/>
                </a:solidFill>
              </a:rPr>
              <a:t>5</a:t>
            </a:r>
            <a:r>
              <a:rPr sz="2800" lang="en-US">
                <a:solidFill>
                  <a:srgbClr val="000000"/>
                </a:solidFill>
              </a:rPr>
              <a:t>A</a:t>
            </a:r>
            <a:r>
              <a:rPr sz="2800" lang="en-US">
                <a:solidFill>
                  <a:srgbClr val="000000"/>
                </a:solidFill>
              </a:rPr>
              <a:t>3</a:t>
            </a:r>
            <a:r>
              <a:rPr sz="2800" lang="en-US">
                <a:solidFill>
                  <a:srgbClr val="000000"/>
                </a:solidFill>
              </a:rPr>
              <a:t>1</a:t>
            </a:r>
            <a:r>
              <a:rPr sz="2800" lang="en-US">
                <a:solidFill>
                  <a:srgbClr val="000000"/>
                </a:solidFill>
              </a:rPr>
              <a:t>A</a:t>
            </a:r>
            <a:r>
              <a:rPr sz="2800" lang="en-US">
                <a:solidFill>
                  <a:srgbClr val="000000"/>
                </a:solidFill>
              </a:rPr>
              <a:t>0</a:t>
            </a:r>
            <a:r>
              <a:rPr sz="2800" lang="en-US">
                <a:solidFill>
                  <a:srgbClr val="000000"/>
                </a:solidFill>
              </a:rPr>
              <a:t>1</a:t>
            </a:r>
            <a:r>
              <a:rPr sz="2800" lang="en-US">
                <a:solidFill>
                  <a:srgbClr val="000000"/>
                </a:solidFill>
              </a:rPr>
              <a:t>2</a:t>
            </a:r>
            <a:r>
              <a:rPr sz="2800" lang="en-US">
                <a:solidFill>
                  <a:srgbClr val="000000"/>
                </a:solidFill>
              </a:rPr>
              <a:t>2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Content Placeholder 2"/>
          <p:cNvSpPr>
            <a:spLocks noMove="1" noResize="1" noRot="1" noGrp="1" noAdjustHandles="1" noEditPoints="1" noChangeArrowheads="1" noChangeShapeType="1"/>
          </p:cNvSpPr>
          <p:nvPr>
            <p:ph idx="1"/>
          </p:nvPr>
        </p:nvSpPr>
        <p:spPr>
          <a:xfrm>
            <a:off x="2456900" y="1958489"/>
            <a:ext cx="8156448" cy="3824246"/>
          </a:xfrm>
        </p:spPr>
        <p:txBody>
          <a:bodyPr/>
          <a:p>
            <a:pPr>
              <a:buFont typeface="Wingdings" charset="2"/>
              <a:buChar char="l"/>
            </a:pPr>
            <a:r>
              <a:rPr dirty="0" lang="en-US"/>
              <a:t>The </a:t>
            </a:r>
            <a:r>
              <a:rPr b="1" dirty="0" lang="en-US"/>
              <a:t>Feature-Based Age Group Classifier</a:t>
            </a:r>
            <a:r>
              <a:rPr dirty="0" lang="en-US"/>
              <a:t> is a simple C project that predicts a person’s age group by analysing observable physical features like </a:t>
            </a:r>
            <a:r>
              <a:rPr b="1" dirty="0" lang="en-US"/>
              <a:t>hair, teeth, skin and height</a:t>
            </a:r>
            <a:r>
              <a:rPr dirty="0" lang="en-US"/>
              <a:t>.</a:t>
            </a:r>
            <a:br>
              <a:rPr dirty="0" lang="en-US"/>
            </a:br>
            <a:r>
              <a:rPr dirty="0" lang="en-US"/>
              <a:t>Each feature is given a </a:t>
            </a:r>
            <a:r>
              <a:rPr b="1" dirty="0" lang="en-US"/>
              <a:t>score</a:t>
            </a:r>
            <a:r>
              <a:rPr dirty="0" lang="en-US"/>
              <a:t>, and the total score determines the age group such as:</a:t>
            </a:r>
          </a:p>
          <a:p>
            <a:pPr>
              <a:buFont typeface="Wingdings" charset="2"/>
              <a:buChar char="l"/>
            </a:pPr>
            <a:r>
              <a:rPr b="1" dirty="0" lang="en-US"/>
              <a:t>Child</a:t>
            </a:r>
            <a:endParaRPr dirty="0" lang="en-US"/>
          </a:p>
          <a:p>
            <a:pPr>
              <a:buFont typeface="Wingdings" charset="2"/>
              <a:buChar char="l"/>
            </a:pPr>
            <a:r>
              <a:rPr b="1" dirty="0" lang="en-US"/>
              <a:t>Teenager</a:t>
            </a:r>
            <a:endParaRPr dirty="0" lang="en-US"/>
          </a:p>
          <a:p>
            <a:pPr>
              <a:buFont typeface="Wingdings" charset="2"/>
              <a:buChar char="l"/>
            </a:pPr>
            <a:r>
              <a:rPr b="1" dirty="0" lang="en-US"/>
              <a:t>Adult</a:t>
            </a:r>
            <a:endParaRPr dirty="0" lang="en-US"/>
          </a:p>
          <a:p>
            <a:pPr>
              <a:buFont typeface="Wingdings" charset="2"/>
              <a:buChar char="l"/>
            </a:pPr>
            <a:r>
              <a:rPr b="1" dirty="0" lang="en-US"/>
              <a:t>Senior Citizen</a:t>
            </a:r>
            <a:endParaRPr dirty="0" lang="en-US"/>
          </a:p>
          <a:p>
            <a:pPr>
              <a:buFont typeface="Wingdings" charset="2"/>
              <a:buChar char="l"/>
            </a:pPr>
            <a:r>
              <a:rPr dirty="0" lang="en-US"/>
              <a:t>This project demonstrates </a:t>
            </a:r>
            <a:r>
              <a:rPr b="1" dirty="0" lang="en-US"/>
              <a:t>decision-making, modular programming, and calculation-based classification</a:t>
            </a:r>
            <a:r>
              <a:rPr dirty="0" lang="en-US"/>
              <a:t>.</a:t>
            </a:r>
          </a:p>
          <a:p>
            <a:pPr>
              <a:buFont typeface="Wingdings" charset="2"/>
              <a:buChar char="l"/>
            </a:pPr>
            <a:endParaRPr dirty="0" lang="en-IN"/>
          </a:p>
        </p:txBody>
      </p:sp>
      <p:pic>
        <p:nvPicPr>
          <p:cNvPr id="2097152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3374316" y="219642"/>
            <a:ext cx="6321615" cy="1340819"/>
          </a:xfrm>
          <a:prstGeom prst="rect"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Title 1"/>
          <p:cNvSpPr>
            <a:spLocks noGrp="1"/>
          </p:cNvSpPr>
          <p:nvPr>
            <p:ph type="title"/>
          </p:nvPr>
        </p:nvSpPr>
        <p:spPr>
          <a:xfrm>
            <a:off x="2877609" y="590550"/>
            <a:ext cx="8596668" cy="1320800"/>
          </a:xfrm>
        </p:spPr>
        <p:txBody>
          <a:bodyPr/>
          <a:p>
            <a:br>
              <a:rPr dirty="0" lang="en-US"/>
            </a:br>
            <a:r>
              <a:rPr dirty="0" sz="3600" lang="en-US" u="sng">
                <a:solidFill>
                  <a:srgbClr val="0070C0"/>
                </a:solidFill>
              </a:rPr>
              <a:t>REQUIREMENTS</a:t>
            </a:r>
            <a:endParaRPr dirty="0" sz="3600" lang="en-IN" u="sng">
              <a:solidFill>
                <a:srgbClr val="0070C0"/>
              </a:solidFill>
            </a:endParaRPr>
          </a:p>
        </p:txBody>
      </p:sp>
      <p:sp>
        <p:nvSpPr>
          <p:cNvPr id="1048612" name="Content Placeholder 2"/>
          <p:cNvSpPr>
            <a:spLocks noGrp="1"/>
          </p:cNvSpPr>
          <p:nvPr>
            <p:ph idx="1"/>
          </p:nvPr>
        </p:nvSpPr>
        <p:spPr>
          <a:xfrm>
            <a:off x="2165671" y="2153850"/>
            <a:ext cx="9308605" cy="5093054"/>
          </a:xfrm>
        </p:spPr>
        <p:txBody>
          <a:bodyPr/>
          <a:p>
            <a:pPr>
              <a:buFont typeface="Wingdings" charset="2"/>
              <a:buChar char="l"/>
            </a:pPr>
            <a:r>
              <a:rPr dirty="0" lang="en-IN" u="sng">
                <a:solidFill>
                  <a:srgbClr val="02A5E3"/>
                </a:solidFill>
              </a:rPr>
              <a:t>Hardware</a:t>
            </a:r>
            <a:r>
              <a:rPr dirty="0" lang="en-IN" u="sng">
                <a:solidFill>
                  <a:srgbClr val="02A5E3"/>
                </a:solidFill>
              </a:rPr>
              <a:t> </a:t>
            </a:r>
            <a:r>
              <a:rPr dirty="0" lang="en-IN" u="sng">
                <a:solidFill>
                  <a:srgbClr val="02A5E3"/>
                </a:solidFill>
              </a:rPr>
              <a:t>Requirements </a:t>
            </a:r>
            <a:r>
              <a:rPr dirty="0" lang="en-IN" u="sng">
                <a:solidFill>
                  <a:srgbClr val="02A5E3"/>
                </a:solidFill>
              </a:rPr>
              <a:t>:</a:t>
            </a:r>
            <a:r>
              <a:rPr dirty="0" lang="en-IN"/>
              <a:t> Any PC or Laptop with a minimum of 512 MB </a:t>
            </a:r>
          </a:p>
          <a:p>
            <a:pPr>
              <a:buFont typeface="Wingdings" charset="2"/>
              <a:buChar char="l"/>
            </a:pPr>
            <a:r>
              <a:rPr dirty="0" lang="en-IN"/>
              <a:t>RAM20 MB free storage</a:t>
            </a:r>
          </a:p>
          <a:p>
            <a:pPr>
              <a:buFont typeface="Wingdings" charset="2"/>
              <a:buChar char="l"/>
            </a:pPr>
            <a:r>
              <a:rPr dirty="0" lang="en-IN" u="sng">
                <a:solidFill>
                  <a:srgbClr val="02A5E3"/>
                </a:solidFill>
              </a:rPr>
              <a:t>Software</a:t>
            </a:r>
            <a:r>
              <a:rPr dirty="0" lang="en-IN" u="sng">
                <a:solidFill>
                  <a:srgbClr val="02A5E3"/>
                </a:solidFill>
              </a:rPr>
              <a:t> </a:t>
            </a:r>
            <a:r>
              <a:rPr dirty="0" lang="en-IN" u="sng">
                <a:solidFill>
                  <a:srgbClr val="02A5E3"/>
                </a:solidFill>
              </a:rPr>
              <a:t>Requirements </a:t>
            </a:r>
            <a:r>
              <a:rPr dirty="0" lang="en-IN" u="sng">
                <a:solidFill>
                  <a:srgbClr val="02A5E3"/>
                </a:solidFill>
              </a:rPr>
              <a:t>: </a:t>
            </a:r>
            <a:r>
              <a:rPr dirty="0" lang="en-IN"/>
              <a:t>C Compiler (Turbo C / Code::Blocks / GCC)Operating System: Windows/Linux</a:t>
            </a:r>
          </a:p>
          <a:p>
            <a:pPr>
              <a:buFont typeface="Wingdings" charset="2"/>
              <a:buChar char="l"/>
            </a:pPr>
            <a:r>
              <a:rPr dirty="0" lang="en-IN" u="sng">
                <a:solidFill>
                  <a:srgbClr val="02A5E3"/>
                </a:solidFill>
              </a:rPr>
              <a:t>Knowledge</a:t>
            </a:r>
            <a:r>
              <a:rPr dirty="0" lang="en-IN" u="sng">
                <a:solidFill>
                  <a:srgbClr val="02A5E3"/>
                </a:solidFill>
              </a:rPr>
              <a:t> </a:t>
            </a:r>
            <a:r>
              <a:rPr dirty="0" lang="en-IN" u="sng">
                <a:solidFill>
                  <a:srgbClr val="02A5E3"/>
                </a:solidFill>
              </a:rPr>
              <a:t>Required</a:t>
            </a:r>
            <a:r>
              <a:rPr dirty="0" lang="en-IN" u="sng"/>
              <a:t> </a:t>
            </a:r>
            <a:r>
              <a:rPr dirty="0" lang="en-IN"/>
              <a:t>: Basics of C programming </a:t>
            </a:r>
            <a:r>
              <a:rPr dirty="0" lang="en-US"/>
              <a:t>u</a:t>
            </a:r>
            <a:r>
              <a:rPr dirty="0" lang="en-US"/>
              <a:t>s</a:t>
            </a:r>
            <a:r>
              <a:rPr dirty="0" lang="en-US"/>
              <a:t>i</a:t>
            </a:r>
            <a:r>
              <a:rPr dirty="0" lang="en-US"/>
              <a:t>n</a:t>
            </a:r>
            <a:r>
              <a:rPr dirty="0" lang="en-US"/>
              <a:t>g</a:t>
            </a:r>
            <a:r>
              <a:rPr dirty="0" lang="en-US"/>
              <a:t> </a:t>
            </a:r>
            <a:r>
              <a:rPr dirty="0" lang="en-US"/>
              <a:t>f</a:t>
            </a:r>
            <a:r>
              <a:rPr dirty="0" lang="en-US"/>
              <a:t>u</a:t>
            </a:r>
            <a:r>
              <a:rPr dirty="0" lang="en-US"/>
              <a:t>n</a:t>
            </a:r>
            <a:r>
              <a:rPr dirty="0" lang="en-US"/>
              <a:t>c</a:t>
            </a:r>
            <a:r>
              <a:rPr dirty="0" lang="en-US"/>
              <a:t>t</a:t>
            </a:r>
            <a:r>
              <a:rPr dirty="0" lang="en-US"/>
              <a:t>ions</a:t>
            </a:r>
            <a:r>
              <a:rPr dirty="0" lang="en-US"/>
              <a:t>,</a:t>
            </a:r>
            <a:r>
              <a:rPr dirty="0" lang="en-US"/>
              <a:t> conditional </a:t>
            </a:r>
            <a:r>
              <a:rPr dirty="0" lang="en-US"/>
              <a:t>statements </a:t>
            </a:r>
            <a:r>
              <a:rPr dirty="0" lang="en-US"/>
              <a:t>(</a:t>
            </a:r>
            <a:r>
              <a:rPr dirty="0" lang="en-US"/>
              <a:t>i</a:t>
            </a:r>
            <a:r>
              <a:rPr dirty="0" lang="en-US"/>
              <a:t>f</a:t>
            </a:r>
            <a:r>
              <a:rPr dirty="0" lang="en-US"/>
              <a:t>-</a:t>
            </a:r>
            <a:r>
              <a:rPr dirty="0" lang="en-US"/>
              <a:t>e</a:t>
            </a:r>
            <a:r>
              <a:rPr dirty="0" lang="en-US"/>
              <a:t>l</a:t>
            </a:r>
            <a:r>
              <a:rPr dirty="0" lang="en-US"/>
              <a:t>se</a:t>
            </a:r>
            <a:r>
              <a:rPr dirty="0" lang="en-US"/>
              <a:t>)</a:t>
            </a:r>
            <a:r>
              <a:rPr dirty="0" lang="en-US"/>
              <a:t> </a:t>
            </a:r>
            <a:r>
              <a:rPr dirty="0" lang="en-US"/>
              <a:t>t</a:t>
            </a:r>
            <a:r>
              <a:rPr dirty="0" lang="en-US"/>
              <a:t>a</a:t>
            </a:r>
            <a:r>
              <a:rPr dirty="0" lang="en-US"/>
              <a:t>k</a:t>
            </a:r>
            <a:r>
              <a:rPr dirty="0" lang="en-US"/>
              <a:t>i</a:t>
            </a:r>
            <a:r>
              <a:rPr dirty="0" lang="en-US"/>
              <a:t>ng </a:t>
            </a:r>
            <a:r>
              <a:rPr dirty="0" lang="en-US"/>
              <a:t>i</a:t>
            </a:r>
            <a:r>
              <a:rPr dirty="0" lang="en-US"/>
              <a:t>n</a:t>
            </a:r>
            <a:r>
              <a:rPr dirty="0" lang="en-US"/>
              <a:t>p</a:t>
            </a:r>
            <a:r>
              <a:rPr dirty="0" lang="en-US"/>
              <a:t>ut </a:t>
            </a:r>
            <a:r>
              <a:rPr dirty="0" lang="en-US"/>
              <a:t>a</a:t>
            </a:r>
            <a:r>
              <a:rPr dirty="0" lang="en-US"/>
              <a:t>n</a:t>
            </a:r>
            <a:r>
              <a:rPr dirty="0" lang="en-US"/>
              <a:t>d</a:t>
            </a:r>
            <a:r>
              <a:rPr dirty="0" lang="en-US"/>
              <a:t> </a:t>
            </a:r>
            <a:r>
              <a:rPr dirty="0" lang="en-US"/>
              <a:t>p</a:t>
            </a:r>
            <a:r>
              <a:rPr dirty="0" lang="en-US"/>
              <a:t>r</a:t>
            </a:r>
            <a:r>
              <a:rPr dirty="0" lang="en-US"/>
              <a:t>i</a:t>
            </a:r>
            <a:r>
              <a:rPr dirty="0" lang="en-US"/>
              <a:t>n</a:t>
            </a:r>
            <a:r>
              <a:rPr dirty="0" lang="en-US"/>
              <a:t>t</a:t>
            </a:r>
            <a:r>
              <a:rPr dirty="0" lang="en-US"/>
              <a:t>ing </a:t>
            </a:r>
            <a:r>
              <a:rPr dirty="0" lang="en-US"/>
              <a:t>o</a:t>
            </a:r>
            <a:r>
              <a:rPr dirty="0" lang="en-US"/>
              <a:t>u</a:t>
            </a:r>
            <a:r>
              <a:rPr dirty="0" lang="en-US"/>
              <a:t>t </a:t>
            </a:r>
            <a:endParaRPr altLang="en-US" 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"/>
          <p:cNvSpPr>
            <a:spLocks noGrp="1"/>
          </p:cNvSpPr>
          <p:nvPr>
            <p:ph type="title"/>
          </p:nvPr>
        </p:nvSpPr>
        <p:spPr>
          <a:xfrm>
            <a:off x="2977624" y="514650"/>
            <a:ext cx="8285178" cy="1337907"/>
          </a:xfrm>
        </p:spPr>
        <p:txBody>
          <a:bodyPr/>
          <a:p>
            <a:pPr algn="l"/>
            <a:r>
              <a:rPr lang="en-US" u="sng">
                <a:solidFill>
                  <a:srgbClr val="0070C0"/>
                </a:solidFill>
              </a:rPr>
              <a:t>A</a:t>
            </a:r>
            <a:r>
              <a:rPr lang="en-US" u="sng">
                <a:solidFill>
                  <a:srgbClr val="0070C0"/>
                </a:solidFill>
              </a:rPr>
              <a:t>L</a:t>
            </a:r>
            <a:r>
              <a:rPr lang="en-US" u="sng">
                <a:solidFill>
                  <a:srgbClr val="0070C0"/>
                </a:solidFill>
              </a:rPr>
              <a:t>G</a:t>
            </a:r>
            <a:r>
              <a:rPr lang="en-US" u="sng">
                <a:solidFill>
                  <a:srgbClr val="0070C0"/>
                </a:solidFill>
              </a:rPr>
              <a:t>O</a:t>
            </a:r>
            <a:r>
              <a:rPr lang="en-US" u="sng">
                <a:solidFill>
                  <a:srgbClr val="0070C0"/>
                </a:solidFill>
              </a:rPr>
              <a:t>RITHM </a:t>
            </a:r>
            <a:endParaRPr lang="en-US" u="sng">
              <a:solidFill>
                <a:srgbClr val="0070C0"/>
              </a:solidFill>
            </a:endParaRPr>
          </a:p>
        </p:txBody>
      </p:sp>
      <p:sp>
        <p:nvSpPr>
          <p:cNvPr id="1048614" name=""/>
          <p:cNvSpPr>
            <a:spLocks noGrp="1"/>
          </p:cNvSpPr>
          <p:nvPr>
            <p:ph idx="1"/>
          </p:nvPr>
        </p:nvSpPr>
        <p:spPr>
          <a:xfrm>
            <a:off x="2286045" y="1852557"/>
            <a:ext cx="8596668" cy="4189155"/>
          </a:xfrm>
        </p:spPr>
        <p:txBody>
          <a:bodyPr>
            <a:normAutofit fontScale="94444"/>
          </a:bodyPr>
          <a:p>
            <a:pPr indent="0" marL="0">
              <a:buNone/>
            </a:pPr>
            <a:r>
              <a:rPr sz="1800" lang="en-US" u="sng">
                <a:solidFill>
                  <a:srgbClr val="02A5E3"/>
                </a:solidFill>
              </a:rPr>
              <a:t>Step 1: I</a:t>
            </a:r>
            <a:r>
              <a:rPr sz="1800" lang="en-US"/>
              <a:t>nitialize and Display Title</a:t>
            </a:r>
            <a:endParaRPr sz="1800" lang="en-US"/>
          </a:p>
          <a:p>
            <a:pPr indent="0" marL="0">
              <a:buNone/>
            </a:pPr>
            <a:r>
              <a:rPr sz="1800" lang="en-US"/>
              <a:t>All required variables such as hair, teeth, skin, height, and total score are initialized.</a:t>
            </a:r>
            <a:endParaRPr sz="1800" lang="en-US"/>
          </a:p>
          <a:p>
            <a:pPr indent="0" marL="0">
              <a:buNone/>
            </a:pPr>
            <a:r>
              <a:rPr sz="1800" lang="en-US"/>
              <a:t>The program also displays the title name:</a:t>
            </a:r>
            <a:endParaRPr sz="1800" lang="en-US"/>
          </a:p>
          <a:p>
            <a:pPr indent="0" marL="0">
              <a:buNone/>
            </a:pPr>
            <a:r>
              <a:rPr sz="1800" lang="en-US"/>
              <a:t>“AGE GROUP CLASSIFIER (Feature Based)”</a:t>
            </a:r>
            <a:endParaRPr sz="1800" lang="en-US"/>
          </a:p>
          <a:p>
            <a:pPr indent="0" marL="0">
              <a:buNone/>
            </a:pPr>
            <a:endParaRPr sz="1800" lang="en-US"/>
          </a:p>
          <a:p>
            <a:pPr indent="0" marL="0">
              <a:buNone/>
            </a:pPr>
            <a:r>
              <a:rPr sz="1800" lang="en-US" u="sng">
                <a:solidFill>
                  <a:srgbClr val="02A5E3"/>
                </a:solidFill>
              </a:rPr>
              <a:t>Step 2: </a:t>
            </a:r>
            <a:r>
              <a:rPr sz="1800" lang="en-US"/>
              <a:t>Read Hair Feature (1–3)</a:t>
            </a:r>
            <a:endParaRPr sz="1800" lang="en-US"/>
          </a:p>
          <a:p>
            <a:pPr indent="0" marL="0">
              <a:buNone/>
            </a:pPr>
            <a:r>
              <a:rPr sz="1800" lang="en-US"/>
              <a:t>The program accepts the hair feature value from the user.</a:t>
            </a:r>
            <a:endParaRPr sz="1800" lang="en-US"/>
          </a:p>
          <a:p>
            <a:pPr indent="0" marL="0">
              <a:buNone/>
            </a:pPr>
            <a:r>
              <a:rPr sz="1800" lang="en-US"/>
              <a:t>1 → Child-like hair</a:t>
            </a:r>
            <a:endParaRPr sz="1800" lang="en-US"/>
          </a:p>
          <a:p>
            <a:pPr indent="0" marL="0">
              <a:buNone/>
            </a:pPr>
            <a:r>
              <a:rPr sz="1800" lang="en-US"/>
              <a:t>2 → Teenage hair</a:t>
            </a:r>
            <a:endParaRPr sz="1800" lang="en-US"/>
          </a:p>
          <a:p>
            <a:pPr indent="0" marL="0">
              <a:buNone/>
            </a:pPr>
            <a:r>
              <a:rPr sz="1800" lang="en-US"/>
              <a:t>3 → Adult/Senior hair</a:t>
            </a:r>
            <a:endParaRPr sz="1800" lang="en-US"/>
          </a:p>
          <a:p>
            <a:pPr indent="0" marL="0">
              <a:buNone/>
            </a:pPr>
            <a:r>
              <a:rPr sz="1800" lang="en-US"/>
              <a:t>This input represents hair development based on age.</a:t>
            </a:r>
            <a:endParaRPr sz="1800"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"/>
          <p:cNvSpPr>
            <a:spLocks noGrp="1"/>
          </p:cNvSpPr>
          <p:nvPr>
            <p:ph idx="1"/>
          </p:nvPr>
        </p:nvSpPr>
        <p:spPr>
          <a:xfrm rot="21600000">
            <a:off x="1974388" y="842897"/>
            <a:ext cx="8777966" cy="5574903"/>
          </a:xfrm>
        </p:spPr>
        <p:txBody>
          <a:bodyPr/>
          <a:p>
            <a:pPr indent="0" marL="0">
              <a:buNone/>
            </a:pPr>
            <a:r>
              <a:rPr lang="en-US" u="sng">
                <a:solidFill>
                  <a:srgbClr val="02A5E3"/>
                </a:solidFill>
              </a:rPr>
              <a:t>Step 3: </a:t>
            </a:r>
            <a:r>
              <a:rPr lang="en-US"/>
              <a:t>Read Teeth Feature (1–3)</a:t>
            </a:r>
            <a:endParaRPr lang="en-US"/>
          </a:p>
          <a:p>
            <a:pPr indent="0" marL="0">
              <a:buNone/>
            </a:pPr>
            <a:r>
              <a:rPr lang="en-US"/>
              <a:t>The teeth feature is taken as input.</a:t>
            </a:r>
            <a:endParaRPr lang="en-US"/>
          </a:p>
          <a:p>
            <a:pPr indent="0" marL="0">
              <a:buNone/>
            </a:pPr>
            <a:r>
              <a:rPr lang="en-US"/>
              <a:t>1 → Milk teeth (child)</a:t>
            </a:r>
            <a:endParaRPr lang="en-US"/>
          </a:p>
          <a:p>
            <a:pPr indent="0" marL="0">
              <a:buNone/>
            </a:pPr>
            <a:r>
              <a:rPr lang="en-US"/>
              <a:t>2 → Developing teeth (teenager)</a:t>
            </a:r>
            <a:endParaRPr lang="en-US"/>
          </a:p>
          <a:p>
            <a:pPr indent="0" marL="0">
              <a:buNone/>
            </a:pPr>
            <a:r>
              <a:rPr lang="en-US"/>
              <a:t>3 → Fully developed teeth (adult/senior)</a:t>
            </a:r>
            <a:endParaRPr lang="en-US"/>
          </a:p>
          <a:p>
            <a:pPr indent="0" marL="0">
              <a:buNone/>
            </a:pPr>
            <a:r>
              <a:rPr lang="en-US"/>
              <a:t>Teeth growth is a strong biological indicator of age.</a:t>
            </a:r>
            <a:endParaRPr lang="en-US"/>
          </a:p>
          <a:p>
            <a:pPr indent="0" marL="0">
              <a:buNone/>
            </a:pPr>
            <a:endParaRPr lang="en-US"/>
          </a:p>
          <a:p>
            <a:pPr indent="0" marL="0">
              <a:buNone/>
            </a:pPr>
            <a:r>
              <a:rPr lang="en-US" u="sng">
                <a:solidFill>
                  <a:srgbClr val="02A5E3"/>
                </a:solidFill>
              </a:rPr>
              <a:t>Step 4: </a:t>
            </a:r>
            <a:r>
              <a:rPr lang="en-US"/>
              <a:t>Read Skin Feature (1–3)</a:t>
            </a:r>
            <a:endParaRPr lang="en-US"/>
          </a:p>
          <a:p>
            <a:pPr indent="0" marL="0">
              <a:buNone/>
            </a:pPr>
            <a:r>
              <a:rPr lang="en-US"/>
              <a:t>The skin condition is read from the user.</a:t>
            </a:r>
            <a:endParaRPr lang="en-US"/>
          </a:p>
          <a:p>
            <a:pPr indent="0" marL="0">
              <a:buNone/>
            </a:pPr>
            <a:r>
              <a:rPr lang="en-US"/>
              <a:t>1 → Very smooth skin</a:t>
            </a:r>
            <a:endParaRPr lang="en-US"/>
          </a:p>
          <a:p>
            <a:pPr indent="0" marL="0">
              <a:buNone/>
            </a:pPr>
            <a:r>
              <a:rPr lang="en-US"/>
              <a:t>2 → Normal skin</a:t>
            </a:r>
            <a:endParaRPr lang="en-US"/>
          </a:p>
          <a:p>
            <a:pPr indent="0" marL="0">
              <a:buNone/>
            </a:pPr>
            <a:r>
              <a:rPr lang="en-US"/>
              <a:t>3 → Aging or wrinkled skin</a:t>
            </a:r>
            <a:endParaRPr lang="en-US"/>
          </a:p>
          <a:p>
            <a:pPr indent="0" marL="0">
              <a:buNone/>
            </a:pPr>
            <a:r>
              <a:rPr lang="en-US"/>
              <a:t>This feature helps distinguish young and older age groups.</a:t>
            </a:r>
            <a:endParaRPr lang="en-US"/>
          </a:p>
        </p:txBody>
      </p:sp>
      <p:pic>
        <p:nvPicPr>
          <p:cNvPr id="2097153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7524016" y="590186"/>
            <a:ext cx="3228338" cy="4792514"/>
          </a:xfrm>
          <a:prstGeom prst="rect"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"/>
          <p:cNvSpPr>
            <a:spLocks noGrp="1"/>
          </p:cNvSpPr>
          <p:nvPr>
            <p:ph idx="1"/>
          </p:nvPr>
        </p:nvSpPr>
        <p:spPr>
          <a:xfrm>
            <a:off x="2354374" y="457434"/>
            <a:ext cx="8596668" cy="5943133"/>
          </a:xfrm>
        </p:spPr>
        <p:txBody>
          <a:bodyPr/>
          <a:p>
            <a:pPr indent="0" marL="0">
              <a:buNone/>
            </a:pPr>
            <a:r>
              <a:rPr lang="en-US" u="sng">
                <a:solidFill>
                  <a:srgbClr val="02A5E3"/>
                </a:solidFill>
              </a:rPr>
              <a:t>Step 5: </a:t>
            </a:r>
            <a:r>
              <a:rPr lang="en-US"/>
              <a:t>Read Height Feature (1–3)</a:t>
            </a:r>
            <a:endParaRPr lang="en-US"/>
          </a:p>
          <a:p>
            <a:pPr indent="0" marL="0">
              <a:buNone/>
            </a:pPr>
            <a:r>
              <a:rPr lang="en-US"/>
              <a:t>The height value is taken as input.</a:t>
            </a:r>
            <a:endParaRPr lang="en-US"/>
          </a:p>
          <a:p>
            <a:pPr indent="0" marL="0">
              <a:buNone/>
            </a:pPr>
            <a:r>
              <a:rPr lang="en-US"/>
              <a:t>1 → Short height</a:t>
            </a:r>
            <a:endParaRPr lang="en-US"/>
          </a:p>
          <a:p>
            <a:pPr indent="0" marL="0">
              <a:buNone/>
            </a:pPr>
            <a:r>
              <a:rPr lang="en-US"/>
              <a:t>2 → Medium height</a:t>
            </a:r>
            <a:endParaRPr lang="en-US"/>
          </a:p>
          <a:p>
            <a:pPr indent="0" marL="0">
              <a:buNone/>
            </a:pPr>
            <a:r>
              <a:rPr lang="en-US"/>
              <a:t>3 → Full height</a:t>
            </a:r>
            <a:endParaRPr lang="en-US"/>
          </a:p>
          <a:p>
            <a:pPr indent="0" marL="0">
              <a:buNone/>
            </a:pPr>
            <a:r>
              <a:rPr lang="en-US"/>
              <a:t>Height changes significantly across age groups.</a:t>
            </a:r>
            <a:endParaRPr lang="en-US"/>
          </a:p>
          <a:p>
            <a:pPr indent="0" marL="0">
              <a:buNone/>
            </a:pPr>
            <a:endParaRPr lang="en-US"/>
          </a:p>
          <a:p>
            <a:pPr indent="0" marL="0">
              <a:buNone/>
            </a:pPr>
            <a:r>
              <a:rPr lang="en-US" u="sng">
                <a:solidFill>
                  <a:srgbClr val="02A5E3"/>
                </a:solidFill>
              </a:rPr>
              <a:t>Step 6: </a:t>
            </a:r>
            <a:r>
              <a:rPr lang="en-US"/>
              <a:t>Calculate Total Score</a:t>
            </a:r>
            <a:endParaRPr lang="en-US"/>
          </a:p>
          <a:p>
            <a:pPr indent="0" marL="0">
              <a:buNone/>
            </a:pPr>
            <a:r>
              <a:rPr lang="en-US"/>
              <a:t>All the feature values are added:</a:t>
            </a:r>
            <a:endParaRPr lang="en-US"/>
          </a:p>
          <a:p>
            <a:pPr indent="0" marL="0">
              <a:buNone/>
            </a:pPr>
            <a:r>
              <a:rPr lang="en-US"/>
              <a:t>Total = hair + teeth + skin + height</a:t>
            </a:r>
            <a:endParaRPr lang="en-US"/>
          </a:p>
          <a:p>
            <a:pPr indent="0" marL="0">
              <a:buNone/>
            </a:pPr>
            <a:r>
              <a:rPr lang="en-US"/>
              <a:t>This total score represents the overall physical development.</a:t>
            </a:r>
            <a:endParaRPr lang="en-US"/>
          </a:p>
          <a:p>
            <a:pPr indent="0" marL="0">
              <a:buNone/>
            </a:pPr>
            <a:endParaRPr lang="en-US"/>
          </a:p>
          <a:p>
            <a:pPr indent="0" marL="0">
              <a:buNone/>
            </a:pPr>
            <a:r>
              <a:rPr lang="en-US" u="sng">
                <a:solidFill>
                  <a:srgbClr val="02A5E3"/>
                </a:solidFill>
              </a:rPr>
              <a:t>Step 7: </a:t>
            </a:r>
            <a:r>
              <a:rPr lang="en-US"/>
              <a:t>If Total ≤ 6 → Child</a:t>
            </a:r>
            <a:endParaRPr lang="en-US"/>
          </a:p>
          <a:p>
            <a:pPr indent="0" marL="0">
              <a:buNone/>
            </a:pPr>
            <a:r>
              <a:rPr lang="en-US"/>
              <a:t>If the total score is 6 or less, the features indicate early development.</a:t>
            </a:r>
            <a:endParaRPr lang="en-US"/>
          </a:p>
          <a:p>
            <a:pPr indent="0" marL="0">
              <a:buNone/>
            </a:pPr>
            <a:r>
              <a:rPr lang="en-US"/>
              <a:t>Hence, the age group is classified as Child.</a:t>
            </a:r>
            <a:endParaRPr lang="en-US"/>
          </a:p>
          <a:p>
            <a:endParaRPr altLang="en-US" lang="zh-CN"/>
          </a:p>
          <a:p>
            <a:endParaRPr altLang="en-US" 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"/>
          <p:cNvSpPr>
            <a:spLocks noGrp="1"/>
          </p:cNvSpPr>
          <p:nvPr>
            <p:ph idx="1"/>
          </p:nvPr>
        </p:nvSpPr>
        <p:spPr>
          <a:xfrm rot="21600000">
            <a:off x="2289041" y="532639"/>
            <a:ext cx="8596668" cy="5416688"/>
          </a:xfrm>
        </p:spPr>
        <p:txBody>
          <a:bodyPr/>
          <a:p>
            <a:pPr indent="0" marL="0">
              <a:buNone/>
            </a:pPr>
            <a:r>
              <a:rPr lang="en-US" u="sng">
                <a:solidFill>
                  <a:srgbClr val="02A5E3"/>
                </a:solidFill>
              </a:rPr>
              <a:t>Step 8: </a:t>
            </a:r>
            <a:r>
              <a:rPr lang="en-US"/>
              <a:t>Else If Total is Between 7 and 9 → Teenager</a:t>
            </a:r>
            <a:endParaRPr lang="en-US"/>
          </a:p>
          <a:p>
            <a:pPr indent="0" marL="0">
              <a:buNone/>
            </a:pPr>
            <a:r>
              <a:rPr lang="en-US"/>
              <a:t>If the total score falls between 7 and 9, partial maturity is observed.</a:t>
            </a:r>
            <a:endParaRPr lang="en-US"/>
          </a:p>
          <a:p>
            <a:pPr indent="0" marL="0">
              <a:buNone/>
            </a:pPr>
            <a:r>
              <a:rPr lang="en-US"/>
              <a:t>The person is classified as a Teenager.</a:t>
            </a:r>
            <a:endParaRPr lang="en-US"/>
          </a:p>
          <a:p>
            <a:pPr indent="0" marL="0">
              <a:buNone/>
            </a:pPr>
            <a:endParaRPr lang="en-US"/>
          </a:p>
          <a:p>
            <a:pPr indent="0" marL="0">
              <a:buNone/>
            </a:pPr>
            <a:r>
              <a:rPr lang="en-US" u="sng">
                <a:solidFill>
                  <a:srgbClr val="02A5E3"/>
                </a:solidFill>
              </a:rPr>
              <a:t>Step 9: </a:t>
            </a:r>
            <a:r>
              <a:rPr lang="en-US"/>
              <a:t>Else If Total is Between 10 and 11 → Adult</a:t>
            </a:r>
            <a:endParaRPr lang="en-US"/>
          </a:p>
          <a:p>
            <a:pPr indent="0" marL="0">
              <a:buNone/>
            </a:pPr>
            <a:r>
              <a:rPr lang="en-US"/>
              <a:t>If the total score is 10 or 11, full physical maturity is present.</a:t>
            </a:r>
            <a:endParaRPr lang="en-US"/>
          </a:p>
          <a:p>
            <a:pPr indent="0" marL="0">
              <a:buNone/>
            </a:pPr>
            <a:r>
              <a:rPr lang="en-US"/>
              <a:t>The person is classified as an Adult.</a:t>
            </a:r>
            <a:endParaRPr lang="en-US"/>
          </a:p>
          <a:p>
            <a:pPr indent="0" marL="0">
              <a:buNone/>
            </a:pPr>
            <a:endParaRPr lang="en-US"/>
          </a:p>
          <a:p>
            <a:pPr indent="0" marL="0">
              <a:buNone/>
            </a:pPr>
            <a:r>
              <a:rPr lang="en-US" u="sng">
                <a:solidFill>
                  <a:srgbClr val="02A5E3"/>
                </a:solidFill>
              </a:rPr>
              <a:t>Step 10: </a:t>
            </a:r>
            <a:r>
              <a:rPr lang="en-US"/>
              <a:t>Else → Senior</a:t>
            </a:r>
            <a:endParaRPr lang="en-US"/>
          </a:p>
          <a:p>
            <a:pPr indent="0" marL="0">
              <a:buNone/>
            </a:pPr>
            <a:r>
              <a:rPr lang="en-US"/>
              <a:t>If the total score is greater than 11, advanced age characteristics are observed.</a:t>
            </a:r>
            <a:endParaRPr lang="en-US"/>
          </a:p>
          <a:p>
            <a:pPr indent="0" marL="0">
              <a:buNone/>
            </a:pPr>
            <a:r>
              <a:rPr lang="en-US"/>
              <a:t>The person is classified as a Senior Citizen.</a:t>
            </a:r>
            <a:endParaRPr lang="en-US"/>
          </a:p>
          <a:p>
            <a:pPr indent="0" marL="0">
              <a:buNone/>
            </a:pPr>
            <a:endParaRPr lang="en-US"/>
          </a:p>
          <a:p>
            <a:pPr indent="0" marL="0">
              <a:buNone/>
            </a:pPr>
            <a:endParaRPr lang="en-US"/>
          </a:p>
          <a:p>
            <a:pPr indent="0" marL="0">
              <a:buNone/>
            </a:pPr>
            <a:endParaRPr altLang="en-US" lang="zh-C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"/>
          <p:cNvSpPr>
            <a:spLocks noGrp="1"/>
          </p:cNvSpPr>
          <p:nvPr>
            <p:ph idx="1"/>
          </p:nvPr>
        </p:nvSpPr>
        <p:spPr>
          <a:xfrm rot="29450">
            <a:off x="2304513" y="949076"/>
            <a:ext cx="8362679" cy="5012816"/>
          </a:xfrm>
        </p:spPr>
        <p:txBody>
          <a:bodyPr/>
          <a:p>
            <a:pPr indent="0" marL="0">
              <a:buNone/>
            </a:pPr>
            <a:r>
              <a:rPr sz="2800" lang="en-US" u="sng">
                <a:solidFill>
                  <a:srgbClr val="02A5E3"/>
                </a:solidFill>
              </a:rPr>
              <a:t>Step 11: </a:t>
            </a:r>
            <a:r>
              <a:rPr sz="2800" lang="en-US"/>
              <a:t>Display Age Group</a:t>
            </a:r>
            <a:endParaRPr sz="2800" lang="en-US"/>
          </a:p>
          <a:p>
            <a:pPr indent="0" marL="0">
              <a:buNone/>
            </a:pPr>
            <a:r>
              <a:rPr sz="2800" lang="en-US"/>
              <a:t>The identified age group is displayed as output to the user.</a:t>
            </a:r>
            <a:endParaRPr sz="2800" lang="en-US"/>
          </a:p>
          <a:p>
            <a:pPr indent="0" marL="0">
              <a:buNone/>
            </a:pPr>
            <a:endParaRPr sz="2800" lang="en-US"/>
          </a:p>
          <a:p>
            <a:pPr indent="0" marL="0">
              <a:buNone/>
            </a:pPr>
            <a:r>
              <a:rPr sz="2800" lang="en-US" u="sng">
                <a:solidFill>
                  <a:srgbClr val="02A5E3"/>
                </a:solidFill>
              </a:rPr>
              <a:t>Step 12:</a:t>
            </a:r>
            <a:r>
              <a:rPr sz="2800" lang="en-US"/>
              <a:t> Stop</a:t>
            </a:r>
            <a:endParaRPr sz="2800" lang="en-US"/>
          </a:p>
          <a:p>
            <a:pPr indent="0" marL="0">
              <a:buNone/>
            </a:pPr>
            <a:r>
              <a:rPr sz="2800" lang="en-US"/>
              <a:t>The program execution is terminated.</a:t>
            </a:r>
            <a:endParaRPr sz="2800" lang="en-US"/>
          </a:p>
          <a:p>
            <a:pPr indent="0" marL="0">
              <a:buNone/>
            </a:pPr>
            <a:endParaRPr altLang="en-US" sz="2800" 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Title 1"/>
          <p:cNvSpPr>
            <a:spLocks noGrp="1"/>
          </p:cNvSpPr>
          <p:nvPr>
            <p:ph type="title"/>
          </p:nvPr>
        </p:nvSpPr>
        <p:spPr>
          <a:xfrm>
            <a:off x="7548962" y="815057"/>
            <a:ext cx="2978015" cy="1325563"/>
          </a:xfrm>
        </p:spPr>
        <p:txBody>
          <a:bodyPr/>
          <a:p>
            <a:r>
              <a:rPr dirty="0" lang="en-US" u="sng">
                <a:solidFill>
                  <a:srgbClr val="0070C0"/>
                </a:solidFill>
              </a:rPr>
              <a:t>FLOWCHART</a:t>
            </a:r>
            <a:endParaRPr dirty="0" lang="en-IN" u="sng">
              <a:solidFill>
                <a:srgbClr val="0070C0"/>
              </a:solidFill>
            </a:endParaRPr>
          </a:p>
        </p:txBody>
      </p:sp>
      <p:sp>
        <p:nvSpPr>
          <p:cNvPr id="1048620" name="Oval 7"/>
          <p:cNvSpPr>
            <a:spLocks noMove="1" noResize="1" noRot="1" noGrp="1" noAdjustHandles="1" noEditPoints="1" noChangeArrowheads="1" noChangeShapeType="1"/>
          </p:cNvSpPr>
          <p:nvPr/>
        </p:nvSpPr>
        <p:spPr>
          <a:xfrm>
            <a:off x="3911235" y="242472"/>
            <a:ext cx="1735667" cy="736600"/>
          </a:xfrm>
          <a:prstGeom prst="ellipse"/>
          <a:ln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dirty="0" lang="en-US"/>
              <a:t>Start</a:t>
            </a:r>
            <a:endParaRPr dirty="0" lang="en-IN"/>
          </a:p>
        </p:txBody>
      </p:sp>
      <p:cxnSp>
        <p:nvCxnSpPr>
          <p:cNvPr id="3145732" name="Straight Arrow Connector 9"/>
          <p:cNvCxnSpPr>
            <a:cxnSpLocks noMove="1" noResize="1" noRot="1" noGrp="1" noAdjustHandles="1" noEditPoints="1" noChangeArrowheads="1" noChangeShapeType="1"/>
          </p:cNvCxnSpPr>
          <p:nvPr/>
        </p:nvCxnSpPr>
        <p:spPr>
          <a:xfrm>
            <a:off x="4709714" y="979072"/>
            <a:ext cx="0" cy="285601"/>
          </a:xfrm>
          <a:prstGeom prst="straightConnector1"/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8621" name="Flowchart: Data 11"/>
          <p:cNvSpPr>
            <a:spLocks noMove="1" noResize="1" noRot="1" noGrp="1" noAdjustHandles="1" noEditPoints="1" noChangeArrowheads="1" noChangeShapeType="1"/>
          </p:cNvSpPr>
          <p:nvPr/>
        </p:nvSpPr>
        <p:spPr>
          <a:xfrm>
            <a:off x="3751122" y="1269175"/>
            <a:ext cx="2055895" cy="603102"/>
          </a:xfrm>
          <a:prstGeom prst="flowChartInputOutput"/>
          <a:ln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dirty="0" sz="1400" lang="en-US"/>
              <a:t>Read hair feature</a:t>
            </a:r>
            <a:endParaRPr dirty="0" sz="1400" lang="en-IN"/>
          </a:p>
        </p:txBody>
      </p:sp>
      <p:cxnSp>
        <p:nvCxnSpPr>
          <p:cNvPr id="3145733" name="Straight Arrow Connector 16"/>
          <p:cNvCxnSpPr>
            <a:cxnSpLocks noMove="1" noResize="1" noRot="1" noGrp="1" noAdjustHandles="1" noEditPoints="1" noChangeArrowheads="1" noChangeShapeType="1"/>
          </p:cNvCxnSpPr>
          <p:nvPr/>
        </p:nvCxnSpPr>
        <p:spPr>
          <a:xfrm flipH="1">
            <a:off x="4721919" y="1907795"/>
            <a:ext cx="1" cy="253469"/>
          </a:xfrm>
          <a:prstGeom prst="straightConnector1"/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8622" name="Flowchart: Data 17"/>
          <p:cNvSpPr>
            <a:spLocks noMove="1" noResize="1" noRot="1" noGrp="1" noAdjustHandles="1" noEditPoints="1" noChangeArrowheads="1" noChangeShapeType="1"/>
          </p:cNvSpPr>
          <p:nvPr/>
        </p:nvSpPr>
        <p:spPr>
          <a:xfrm>
            <a:off x="3739789" y="2140620"/>
            <a:ext cx="1964261" cy="513029"/>
          </a:xfrm>
          <a:prstGeom prst="flowChartInputOutput"/>
          <a:ln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dirty="0" sz="1400" lang="en-US"/>
              <a:t>Read teeth feature</a:t>
            </a:r>
            <a:endParaRPr dirty="0" sz="1400" lang="en-IN"/>
          </a:p>
        </p:txBody>
      </p:sp>
      <p:sp>
        <p:nvSpPr>
          <p:cNvPr id="1048623" name="Flowchart: Data 21"/>
          <p:cNvSpPr>
            <a:spLocks noMove="1" noResize="1" noRot="1" noGrp="1" noAdjustHandles="1" noEditPoints="1" noChangeArrowheads="1" noChangeShapeType="1"/>
          </p:cNvSpPr>
          <p:nvPr/>
        </p:nvSpPr>
        <p:spPr>
          <a:xfrm>
            <a:off x="3727586" y="2836184"/>
            <a:ext cx="1964261" cy="488709"/>
          </a:xfrm>
          <a:prstGeom prst="flowChartInputOutput"/>
          <a:ln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dirty="0" sz="1400" lang="en-US"/>
              <a:t>Read height feature</a:t>
            </a:r>
            <a:endParaRPr dirty="0" sz="1400" lang="en-IN"/>
          </a:p>
        </p:txBody>
      </p:sp>
      <p:sp>
        <p:nvSpPr>
          <p:cNvPr id="1048624" name="Rectangle 22"/>
          <p:cNvSpPr>
            <a:spLocks noMove="1" noResize="1" noRot="1" noGrp="1" noAdjustHandles="1" noEditPoints="1" noChangeArrowheads="1" noChangeShapeType="1"/>
          </p:cNvSpPr>
          <p:nvPr/>
        </p:nvSpPr>
        <p:spPr>
          <a:xfrm>
            <a:off x="3220707" y="3557718"/>
            <a:ext cx="2978015" cy="364066"/>
          </a:xfrm>
          <a:prstGeom prst="rect"/>
          <a:ln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dirty="0" sz="1400" lang="en-US"/>
              <a:t>Hair+Teeth+Skin+Height</a:t>
            </a:r>
            <a:endParaRPr dirty="0" sz="1400" lang="en-IN"/>
          </a:p>
        </p:txBody>
      </p:sp>
      <p:sp>
        <p:nvSpPr>
          <p:cNvPr id="1048625" name="Diamond 23"/>
          <p:cNvSpPr>
            <a:spLocks noMove="1" noResize="1" noRot="1" noGrp="1" noAdjustHandles="1" noEditPoints="1" noChangeArrowheads="1" noChangeShapeType="1"/>
          </p:cNvSpPr>
          <p:nvPr/>
        </p:nvSpPr>
        <p:spPr>
          <a:xfrm>
            <a:off x="3456649" y="4119641"/>
            <a:ext cx="2506133" cy="596844"/>
          </a:xfrm>
          <a:prstGeom prst="diamond"/>
          <a:ln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dirty="0" sz="1600" lang="en-US"/>
              <a:t>Total&lt;=6</a:t>
            </a:r>
            <a:endParaRPr dirty="0" sz="1600" lang="en-IN"/>
          </a:p>
        </p:txBody>
      </p:sp>
      <p:sp>
        <p:nvSpPr>
          <p:cNvPr id="1048626" name="Diamond 24"/>
          <p:cNvSpPr>
            <a:spLocks noMove="1" noResize="1" noRot="1" noGrp="1" noAdjustHandles="1" noEditPoints="1" noChangeArrowheads="1" noChangeShapeType="1"/>
          </p:cNvSpPr>
          <p:nvPr/>
        </p:nvSpPr>
        <p:spPr>
          <a:xfrm>
            <a:off x="3481060" y="4949310"/>
            <a:ext cx="2481722" cy="603952"/>
          </a:xfrm>
          <a:prstGeom prst="diamond"/>
          <a:ln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dirty="0" sz="1600" lang="en-US"/>
              <a:t>Total 7-9?</a:t>
            </a:r>
            <a:endParaRPr dirty="0" sz="1600" lang="en-IN"/>
          </a:p>
        </p:txBody>
      </p:sp>
      <p:sp>
        <p:nvSpPr>
          <p:cNvPr id="1048627" name="Rectangle 25"/>
          <p:cNvSpPr>
            <a:spLocks noMove="1" noResize="1" noRot="1" noGrp="1" noAdjustHandles="1" noEditPoints="1" noChangeArrowheads="1" noChangeShapeType="1"/>
          </p:cNvSpPr>
          <p:nvPr/>
        </p:nvSpPr>
        <p:spPr>
          <a:xfrm>
            <a:off x="3751122" y="5943600"/>
            <a:ext cx="1941597" cy="603952"/>
          </a:xfrm>
          <a:prstGeom prst="rect"/>
          <a:ln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dirty="0" lang="en-US"/>
              <a:t>Adult</a:t>
            </a:r>
            <a:endParaRPr dirty="0" lang="en-IN"/>
          </a:p>
        </p:txBody>
      </p:sp>
      <p:cxnSp>
        <p:nvCxnSpPr>
          <p:cNvPr id="3145734" name="Straight Connector 27"/>
          <p:cNvCxnSpPr>
            <a:cxnSpLocks noMove="1" noResize="1" noRot="1" noGrp="1" noAdjustHandles="1" noEditPoints="1" noChangeArrowheads="1" noChangeShapeType="1"/>
            <a:stCxn id="1048626" idx="1"/>
          </p:cNvCxnSpPr>
          <p:nvPr/>
        </p:nvCxnSpPr>
        <p:spPr>
          <a:xfrm flipH="1">
            <a:off x="2243667" y="5251286"/>
            <a:ext cx="1237393" cy="0"/>
          </a:xfrm>
          <a:prstGeom prst="line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35" name="Straight Arrow Connector 29"/>
          <p:cNvCxnSpPr>
            <a:cxnSpLocks noMove="1" noResize="1" noRot="1" noGrp="1" noAdjustHandles="1" noEditPoints="1" noChangeArrowheads="1" noChangeShapeType="1"/>
          </p:cNvCxnSpPr>
          <p:nvPr/>
        </p:nvCxnSpPr>
        <p:spPr>
          <a:xfrm>
            <a:off x="2235200" y="5251286"/>
            <a:ext cx="8467" cy="565314"/>
          </a:xfrm>
          <a:prstGeom prst="straightConnector1"/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8628" name="Rectangle 30"/>
          <p:cNvSpPr>
            <a:spLocks noMove="1" noResize="1" noRot="1" noGrp="1" noAdjustHandles="1" noEditPoints="1" noChangeArrowheads="1" noChangeShapeType="1"/>
          </p:cNvSpPr>
          <p:nvPr/>
        </p:nvSpPr>
        <p:spPr>
          <a:xfrm>
            <a:off x="1558994" y="5879779"/>
            <a:ext cx="1746382" cy="603952"/>
          </a:xfrm>
          <a:prstGeom prst="rect"/>
          <a:ln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dirty="0" lang="en-US"/>
              <a:t>Teenager</a:t>
            </a:r>
            <a:endParaRPr dirty="0" lang="en-IN"/>
          </a:p>
        </p:txBody>
      </p:sp>
      <p:cxnSp>
        <p:nvCxnSpPr>
          <p:cNvPr id="3145736" name="Straight Arrow Connector 36"/>
          <p:cNvCxnSpPr>
            <a:cxnSpLocks/>
            <a:stCxn id="1048626" idx="2"/>
            <a:endCxn id="1048627" idx="0"/>
          </p:cNvCxnSpPr>
          <p:nvPr/>
        </p:nvCxnSpPr>
        <p:spPr>
          <a:xfrm>
            <a:off x="4721921" y="5553262"/>
            <a:ext cx="0" cy="390338"/>
          </a:xfrm>
          <a:prstGeom prst="straightConnector1"/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8629" name="TextBox 38"/>
          <p:cNvSpPr txBox="1">
            <a:spLocks noMove="1" noResize="1" noRot="1" noGrp="1" noAdjustHandles="1" noEditPoints="1" noChangeArrowheads="1" noChangeShapeType="1"/>
          </p:cNvSpPr>
          <p:nvPr/>
        </p:nvSpPr>
        <p:spPr>
          <a:xfrm>
            <a:off x="4787451" y="5553262"/>
            <a:ext cx="455574" cy="369332"/>
          </a:xfrm>
          <a:prstGeom prst="rect"/>
          <a:noFill/>
        </p:spPr>
        <p:txBody>
          <a:bodyPr rtlCol="0" wrap="none">
            <a:spAutoFit/>
          </a:bodyPr>
          <a:p>
            <a:r>
              <a:rPr dirty="0" lang="en-US"/>
              <a:t>No</a:t>
            </a:r>
            <a:endParaRPr dirty="0" lang="en-IN"/>
          </a:p>
        </p:txBody>
      </p:sp>
      <p:cxnSp>
        <p:nvCxnSpPr>
          <p:cNvPr id="3145737" name="Straight Arrow Connector 40"/>
          <p:cNvCxnSpPr>
            <a:cxnSpLocks noMove="1" noResize="1" noRot="1" noGrp="1" noAdjustHandles="1" noEditPoints="1" noChangeArrowheads="1" noChangeShapeType="1"/>
            <a:stCxn id="1048625" idx="2"/>
            <a:endCxn id="1048626" idx="0"/>
          </p:cNvCxnSpPr>
          <p:nvPr/>
        </p:nvCxnSpPr>
        <p:spPr>
          <a:xfrm>
            <a:off x="4709716" y="4716485"/>
            <a:ext cx="12205" cy="232825"/>
          </a:xfrm>
          <a:prstGeom prst="straightConnector1"/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8630" name="TextBox 43"/>
          <p:cNvSpPr txBox="1">
            <a:spLocks noMove="1" noResize="1" noRot="1" noGrp="1" noAdjustHandles="1" noEditPoints="1" noChangeArrowheads="1" noChangeShapeType="1"/>
          </p:cNvSpPr>
          <p:nvPr/>
        </p:nvSpPr>
        <p:spPr>
          <a:xfrm>
            <a:off x="4794383" y="4648231"/>
            <a:ext cx="556637" cy="358140"/>
          </a:xfrm>
          <a:prstGeom prst="rect"/>
          <a:noFill/>
        </p:spPr>
        <p:txBody>
          <a:bodyPr rtlCol="0" wrap="none">
            <a:spAutoFit/>
          </a:bodyPr>
          <a:p>
            <a:r>
              <a:rPr dirty="0" lang="en-US"/>
              <a:t>Yes</a:t>
            </a:r>
            <a:endParaRPr dirty="0" lang="en-IN"/>
          </a:p>
        </p:txBody>
      </p:sp>
      <p:cxnSp>
        <p:nvCxnSpPr>
          <p:cNvPr id="3145738" name="Straight Connector 48"/>
          <p:cNvCxnSpPr>
            <a:cxnSpLocks noMove="1" noResize="1" noRot="1" noGrp="1" noAdjustHandles="1" noEditPoints="1" noChangeArrowheads="1" noChangeShapeType="1"/>
            <a:stCxn id="1048625" idx="3"/>
          </p:cNvCxnSpPr>
          <p:nvPr/>
        </p:nvCxnSpPr>
        <p:spPr>
          <a:xfrm>
            <a:off x="5962782" y="4418063"/>
            <a:ext cx="1132285" cy="0"/>
          </a:xfrm>
          <a:prstGeom prst="line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39" name="Straight Arrow Connector 51"/>
          <p:cNvCxnSpPr>
            <a:cxnSpLocks noMove="1" noResize="1" noRot="1" noGrp="1" noAdjustHandles="1" noEditPoints="1" noChangeArrowheads="1" noChangeShapeType="1"/>
          </p:cNvCxnSpPr>
          <p:nvPr/>
        </p:nvCxnSpPr>
        <p:spPr>
          <a:xfrm>
            <a:off x="7112000" y="4418063"/>
            <a:ext cx="0" cy="414834"/>
          </a:xfrm>
          <a:prstGeom prst="straightConnector1"/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8631" name="Rectangle 52"/>
          <p:cNvSpPr>
            <a:spLocks noMove="1" noResize="1" noRot="1" noGrp="1" noAdjustHandles="1" noEditPoints="1" noChangeArrowheads="1" noChangeShapeType="1"/>
          </p:cNvSpPr>
          <p:nvPr/>
        </p:nvSpPr>
        <p:spPr>
          <a:xfrm>
            <a:off x="6379470" y="4832897"/>
            <a:ext cx="1641409" cy="603948"/>
          </a:xfrm>
          <a:prstGeom prst="rect"/>
          <a:ln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dirty="0" lang="en-US"/>
              <a:t>Child</a:t>
            </a:r>
            <a:endParaRPr dirty="0" lang="en-IN"/>
          </a:p>
        </p:txBody>
      </p:sp>
      <p:sp>
        <p:nvSpPr>
          <p:cNvPr id="1048632" name="TextBox 53"/>
          <p:cNvSpPr txBox="1">
            <a:spLocks noMove="1" noResize="1" noRot="1" noGrp="1" noAdjustHandles="1" noEditPoints="1" noChangeArrowheads="1" noChangeShapeType="1"/>
          </p:cNvSpPr>
          <p:nvPr/>
        </p:nvSpPr>
        <p:spPr>
          <a:xfrm>
            <a:off x="6283391" y="4061478"/>
            <a:ext cx="455574" cy="369332"/>
          </a:xfrm>
          <a:prstGeom prst="rect"/>
          <a:noFill/>
        </p:spPr>
        <p:txBody>
          <a:bodyPr rtlCol="0" wrap="none">
            <a:spAutoFit/>
          </a:bodyPr>
          <a:p>
            <a:r>
              <a:rPr dirty="0" lang="en-US"/>
              <a:t>No</a:t>
            </a:r>
            <a:endParaRPr dirty="0" lang="en-IN"/>
          </a:p>
        </p:txBody>
      </p:sp>
      <p:cxnSp>
        <p:nvCxnSpPr>
          <p:cNvPr id="3145740" name="Straight Arrow Connector 55"/>
          <p:cNvCxnSpPr>
            <a:cxnSpLocks noMove="1" noResize="1" noRot="1" noGrp="1" noAdjustHandles="1" noEditPoints="1" noChangeArrowheads="1" noChangeShapeType="1"/>
            <a:stCxn id="1048624" idx="2"/>
            <a:endCxn id="1048625" idx="0"/>
          </p:cNvCxnSpPr>
          <p:nvPr/>
        </p:nvCxnSpPr>
        <p:spPr>
          <a:xfrm>
            <a:off x="4709715" y="3921784"/>
            <a:ext cx="1" cy="197857"/>
          </a:xfrm>
          <a:prstGeom prst="straightConnector1"/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41" name="Straight Arrow Connector 58"/>
          <p:cNvCxnSpPr>
            <a:cxnSpLocks noMove="1" noResize="1" noRot="1" noGrp="1" noAdjustHandles="1" noEditPoints="1" noChangeArrowheads="1" noChangeShapeType="1"/>
            <a:stCxn id="1048623" idx="4"/>
            <a:endCxn id="1048624" idx="0"/>
          </p:cNvCxnSpPr>
          <p:nvPr/>
        </p:nvCxnSpPr>
        <p:spPr>
          <a:xfrm flipH="1">
            <a:off x="4709715" y="3324893"/>
            <a:ext cx="2" cy="232825"/>
          </a:xfrm>
          <a:prstGeom prst="straightConnector1"/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42" name="Straight Arrow Connector 64"/>
          <p:cNvCxnSpPr>
            <a:cxnSpLocks noMove="1" noResize="1" noRot="1" noGrp="1" noAdjustHandles="1" noEditPoints="1" noChangeArrowheads="1" noChangeShapeType="1"/>
            <a:stCxn id="1048622" idx="4"/>
            <a:endCxn id="1048623" idx="1"/>
          </p:cNvCxnSpPr>
          <p:nvPr/>
        </p:nvCxnSpPr>
        <p:spPr>
          <a:xfrm flipH="1">
            <a:off x="4709717" y="2653649"/>
            <a:ext cx="12203" cy="182535"/>
          </a:xfrm>
          <a:prstGeom prst="straightConnector1"/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43" name="Straight Arrow Connector 67"/>
          <p:cNvCxnSpPr>
            <a:cxnSpLocks noMove="1" noResize="1" noRot="1" noGrp="1" noAdjustHandles="1" noEditPoints="1" noChangeArrowheads="1" noChangeShapeType="1"/>
            <a:stCxn id="1048627" idx="3"/>
          </p:cNvCxnSpPr>
          <p:nvPr/>
        </p:nvCxnSpPr>
        <p:spPr>
          <a:xfrm>
            <a:off x="5692719" y="6245576"/>
            <a:ext cx="590672" cy="2824"/>
          </a:xfrm>
          <a:prstGeom prst="straightConnector1"/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8633" name="Oval 68"/>
          <p:cNvSpPr>
            <a:spLocks noMove="1" noResize="1" noRot="1" noGrp="1" noAdjustHandles="1" noEditPoints="1" noChangeArrowheads="1" noChangeShapeType="1"/>
          </p:cNvSpPr>
          <p:nvPr/>
        </p:nvSpPr>
        <p:spPr>
          <a:xfrm>
            <a:off x="6379470" y="5879779"/>
            <a:ext cx="1748530" cy="811702"/>
          </a:xfrm>
          <a:prstGeom prst="ellipse"/>
          <a:ln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dirty="0" lang="en-US"/>
              <a:t>Stop</a:t>
            </a:r>
            <a:endParaRPr dirty="0"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Title 1"/>
          <p:cNvSpPr>
            <a:spLocks noMove="1" noResize="1" noRot="1" noGrp="1" noAdjustHandles="1" noEditPoints="1" noChangeArrowheads="1" noChangeShapeType="1"/>
          </p:cNvSpPr>
          <p:nvPr>
            <p:ph type="title"/>
          </p:nvPr>
        </p:nvSpPr>
        <p:spPr>
          <a:xfrm>
            <a:off x="2886341" y="468243"/>
            <a:ext cx="8596668" cy="1320800"/>
          </a:xfrm>
        </p:spPr>
        <p:txBody>
          <a:bodyPr/>
          <a:p>
            <a:r>
              <a:rPr dirty="0" lang="en-US" u="sng">
                <a:solidFill>
                  <a:srgbClr val="0070C0"/>
                </a:solidFill>
              </a:rPr>
              <a:t>MODULE DESCRIPTION</a:t>
            </a:r>
            <a:endParaRPr dirty="0" lang="en-IN" u="sng">
              <a:solidFill>
                <a:srgbClr val="0070C0"/>
              </a:solidFill>
            </a:endParaRPr>
          </a:p>
        </p:txBody>
      </p:sp>
      <p:sp>
        <p:nvSpPr>
          <p:cNvPr id="1048635" name="Content Placeholder 2"/>
          <p:cNvSpPr>
            <a:spLocks noMove="1" noResize="1" noRot="1" noGrp="1" noAdjustHandles="1" noEditPoints="1" noChangeArrowheads="1" noChangeShapeType="1"/>
          </p:cNvSpPr>
          <p:nvPr>
            <p:ph idx="1"/>
          </p:nvPr>
        </p:nvSpPr>
        <p:spPr>
          <a:xfrm>
            <a:off x="2804491" y="2036693"/>
            <a:ext cx="10515600" cy="3815626"/>
          </a:xfrm>
        </p:spPr>
        <p:txBody>
          <a:bodyPr>
            <a:normAutofit/>
          </a:bodyPr>
          <a:p>
            <a:pPr>
              <a:buFont typeface="Wingdings" charset="2"/>
              <a:buChar char="l"/>
            </a:pPr>
            <a:r>
              <a:rPr b="1" dirty="0" sz="4000" lang="en-US"/>
              <a:t>Module–1:</a:t>
            </a:r>
            <a:r>
              <a:rPr dirty="0" sz="4000" lang="en-US"/>
              <a:t> Read Features</a:t>
            </a:r>
            <a:endParaRPr dirty="0" sz="4000" lang="en-US"/>
          </a:p>
          <a:p>
            <a:pPr>
              <a:buFont typeface="Wingdings" charset="2"/>
              <a:buChar char="l"/>
            </a:pPr>
            <a:r>
              <a:rPr b="1" dirty="0" sz="4000" lang="en-US"/>
              <a:t>Module–2:</a:t>
            </a:r>
            <a:r>
              <a:rPr dirty="0" sz="4000" lang="en-US"/>
              <a:t> Calculate Scores</a:t>
            </a:r>
            <a:endParaRPr dirty="0" sz="4000" lang="en-US"/>
          </a:p>
          <a:p>
            <a:pPr>
              <a:buFont typeface="Wingdings" charset="2"/>
              <a:buChar char="l"/>
            </a:pPr>
            <a:r>
              <a:rPr b="1" dirty="0" sz="4000" lang="en-US"/>
              <a:t>Module–3:</a:t>
            </a:r>
            <a:r>
              <a:rPr dirty="0" sz="4000" lang="en-US"/>
              <a:t> Classify Age Group</a:t>
            </a:r>
            <a:endParaRPr dirty="0" sz="4000" lang="en-US"/>
          </a:p>
          <a:p>
            <a:pPr>
              <a:buFont typeface="Wingdings" charset="2"/>
              <a:buChar char="l"/>
            </a:pPr>
            <a:r>
              <a:rPr b="1" dirty="0" sz="4000" lang="en-US"/>
              <a:t>Module–4:</a:t>
            </a:r>
            <a:r>
              <a:rPr dirty="0" sz="4000" lang="en-US"/>
              <a:t> Display Output</a:t>
            </a:r>
            <a:endParaRPr dirty="0" sz="4000" lang="en-US"/>
          </a:p>
          <a:p>
            <a:pPr>
              <a:buFont typeface="Wingdings" charset="2"/>
              <a:buChar char="l"/>
            </a:pPr>
            <a:endParaRPr dirty="0" sz="4000"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Title 1"/>
          <p:cNvSpPr>
            <a:spLocks noMove="1" noResize="1" noRot="1" noGrp="1" noAdjustHandles="1" noEditPoints="1" noChangeArrowheads="1" noChangeShapeType="1"/>
          </p:cNvSpPr>
          <p:nvPr>
            <p:ph type="title"/>
          </p:nvPr>
        </p:nvSpPr>
        <p:spPr>
          <a:xfrm>
            <a:off x="2498814" y="361950"/>
            <a:ext cx="9185012" cy="933522"/>
          </a:xfrm>
        </p:spPr>
        <p:txBody>
          <a:bodyPr/>
          <a:p>
            <a:r>
              <a:rPr dirty="0" lang="en-IN" u="sng">
                <a:solidFill>
                  <a:srgbClr val="0070C0"/>
                </a:solidFill>
              </a:rPr>
              <a:t>Logic (Module-wise Logic)</a:t>
            </a:r>
            <a:endParaRPr dirty="0" lang="en-IN" u="sng">
              <a:solidFill>
                <a:srgbClr val="0070C0"/>
              </a:solidFill>
            </a:endParaRPr>
          </a:p>
        </p:txBody>
      </p:sp>
      <p:sp>
        <p:nvSpPr>
          <p:cNvPr id="1048637" name="Content Placeholder 4"/>
          <p:cNvSpPr>
            <a:spLocks noMove="1" noResize="1" noRot="1" noGrp="1" noAdjustHandles="1" noEditPoints="1" noChangeArrowheads="1" noChangeShapeType="1"/>
          </p:cNvSpPr>
          <p:nvPr>
            <p:ph idx="1"/>
          </p:nvPr>
        </p:nvSpPr>
        <p:spPr>
          <a:xfrm>
            <a:off x="3391959" y="1484842"/>
            <a:ext cx="8596668" cy="4902200"/>
          </a:xfrm>
        </p:spPr>
        <p:txBody>
          <a:bodyPr>
            <a:normAutofit/>
          </a:bodyPr>
          <a:p>
            <a:pPr>
              <a:buFont typeface="Wingdings" charset="2"/>
              <a:buChar char="l"/>
            </a:pPr>
            <a:r>
              <a:rPr b="1" dirty="0" sz="1400" lang="en-US" u="sng">
                <a:solidFill>
                  <a:srgbClr val="02A5E3"/>
                </a:solidFill>
              </a:rPr>
              <a:t>Module 1 – Feature Input Logic</a:t>
            </a:r>
            <a:endParaRPr b="1" dirty="0" sz="1400" lang="en-US" u="sng">
              <a:solidFill>
                <a:srgbClr val="02A5E3"/>
              </a:solidFill>
            </a:endParaRPr>
          </a:p>
          <a:p>
            <a:pPr indent="0" marL="0">
              <a:buNone/>
            </a:pPr>
            <a:r>
              <a:rPr dirty="0" sz="1400" lang="en-US"/>
              <a:t>        Ask user to enter values from </a:t>
            </a:r>
            <a:r>
              <a:rPr b="1" dirty="0" sz="1400" lang="en-US"/>
              <a:t>1 to 3</a:t>
            </a:r>
            <a:r>
              <a:rPr dirty="0" sz="1400" lang="en-US"/>
              <a:t> for each feature</a:t>
            </a:r>
          </a:p>
          <a:p>
            <a:pPr indent="0" lvl="1" marL="457200">
              <a:buNone/>
            </a:pPr>
            <a:r>
              <a:rPr dirty="0" sz="1400" lang="en-US"/>
              <a:t>     1 → Weak/Poor</a:t>
            </a:r>
          </a:p>
          <a:p>
            <a:pPr indent="0" lvl="1" marL="457200">
              <a:buNone/>
            </a:pPr>
            <a:r>
              <a:rPr dirty="0" sz="1400" lang="en-US"/>
              <a:t>     2 → Normal</a:t>
            </a:r>
          </a:p>
          <a:p>
            <a:pPr indent="0" lvl="1" marL="457200">
              <a:buNone/>
            </a:pPr>
            <a:r>
              <a:rPr dirty="0" sz="1400" lang="en-US"/>
              <a:t>     3 → Strong/Healthy</a:t>
            </a:r>
          </a:p>
          <a:p>
            <a:pPr>
              <a:buFont typeface="Wingdings" charset="2"/>
              <a:buChar char="l"/>
            </a:pPr>
            <a:r>
              <a:rPr b="1" dirty="0" sz="1400" lang="en-US" u="sng">
                <a:solidFill>
                  <a:srgbClr val="02A5E3"/>
                </a:solidFill>
              </a:rPr>
              <a:t>Module 2 – Score Calculation Logic</a:t>
            </a:r>
            <a:endParaRPr b="1" dirty="0" sz="1400" lang="en-US" u="sng">
              <a:solidFill>
                <a:srgbClr val="02A5E3"/>
              </a:solidFill>
            </a:endParaRPr>
          </a:p>
          <a:p>
            <a:pPr indent="0" marL="0">
              <a:buNone/>
            </a:pPr>
            <a:r>
              <a:rPr dirty="0" sz="1400" lang="en-US"/>
              <a:t>        Total_Score = hair + teeth + skin + height;</a:t>
            </a:r>
          </a:p>
          <a:p>
            <a:pPr>
              <a:buFont typeface="Wingdings" charset="2"/>
              <a:buChar char="l"/>
            </a:pPr>
            <a:r>
              <a:rPr b="1" dirty="0" sz="1400" lang="en-US" u="sng">
                <a:solidFill>
                  <a:srgbClr val="02A5E3"/>
                </a:solidFill>
              </a:rPr>
              <a:t>Module 3 – Age Group Classification Logic</a:t>
            </a:r>
            <a:endParaRPr b="1" dirty="0" sz="1400" lang="en-US" u="sng">
              <a:solidFill>
                <a:srgbClr val="02A5E3"/>
              </a:solidFill>
            </a:endParaRPr>
          </a:p>
          <a:p>
            <a:pPr indent="0" marL="0">
              <a:buNone/>
            </a:pPr>
            <a:r>
              <a:rPr dirty="0" sz="1400" lang="en-US"/>
              <a:t>        if(total &lt;= 6) → Child</a:t>
            </a:r>
          </a:p>
          <a:p>
            <a:pPr indent="0" marL="0">
              <a:buNone/>
            </a:pPr>
            <a:r>
              <a:rPr dirty="0" sz="1400" lang="en-US"/>
              <a:t>        else if(total &lt;= 9) → Teenager</a:t>
            </a:r>
          </a:p>
          <a:p>
            <a:pPr indent="0" marL="0">
              <a:buNone/>
            </a:pPr>
            <a:r>
              <a:rPr dirty="0" sz="1400" lang="en-US"/>
              <a:t>        else if(total &lt;= 11) → Adult</a:t>
            </a:r>
          </a:p>
          <a:p>
            <a:pPr indent="0" marL="0">
              <a:buNone/>
            </a:pPr>
            <a:r>
              <a:rPr dirty="0" sz="1400" lang="en-US"/>
              <a:t>        else → Senior</a:t>
            </a:r>
          </a:p>
          <a:p>
            <a:pPr>
              <a:buFont typeface="Wingdings" charset="2"/>
              <a:buChar char="l"/>
            </a:pPr>
            <a:r>
              <a:rPr b="1" dirty="0" sz="1400" lang="en-US" u="sng">
                <a:solidFill>
                  <a:srgbClr val="02A5E3"/>
                </a:solidFill>
              </a:rPr>
              <a:t>Module 4 – Output Logic</a:t>
            </a:r>
            <a:endParaRPr b="1" dirty="0" sz="1400" lang="en-US" u="sng">
              <a:solidFill>
                <a:srgbClr val="02A5E3"/>
              </a:solidFill>
            </a:endParaRPr>
          </a:p>
          <a:p>
            <a:pPr indent="0" marL="0">
              <a:buNone/>
            </a:pPr>
            <a:r>
              <a:rPr dirty="0" sz="1400" lang="en-US"/>
              <a:t>       Print age group on screen.</a:t>
            </a:r>
          </a:p>
          <a:p>
            <a:endParaRPr dirty="0"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8" name="Title 1"/>
          <p:cNvSpPr>
            <a:spLocks noMove="1" noResize="1" noRot="1" noGrp="1" noAdjustHandles="1" noEditPoints="1" noChangeArrowheads="1" noChangeShapeType="1"/>
          </p:cNvSpPr>
          <p:nvPr>
            <p:ph type="title"/>
          </p:nvPr>
        </p:nvSpPr>
        <p:spPr>
          <a:xfrm>
            <a:off x="3134784" y="440267"/>
            <a:ext cx="8596668" cy="617188"/>
          </a:xfrm>
        </p:spPr>
        <p:txBody>
          <a:bodyPr/>
          <a:p>
            <a:r>
              <a:rPr dirty="0" lang="en-IN" u="sng">
                <a:solidFill>
                  <a:srgbClr val="0070C0"/>
                </a:solidFill>
              </a:rPr>
              <a:t>Module-wise Program</a:t>
            </a:r>
            <a:endParaRPr dirty="0" lang="en-IN" u="sng">
              <a:solidFill>
                <a:srgbClr val="0070C0"/>
              </a:solidFill>
            </a:endParaRPr>
          </a:p>
        </p:txBody>
      </p:sp>
      <p:sp>
        <p:nvSpPr>
          <p:cNvPr id="1048639" name="Content Placeholder 3"/>
          <p:cNvSpPr>
            <a:spLocks noMove="1" noResize="1" noRot="1" noGrp="1" noAdjustHandles="1" noEditPoints="1" noChangeArrowheads="1" noChangeShapeType="1"/>
          </p:cNvSpPr>
          <p:nvPr>
            <p:ph idx="1"/>
          </p:nvPr>
        </p:nvSpPr>
        <p:spPr>
          <a:xfrm>
            <a:off x="3268134" y="1414991"/>
            <a:ext cx="8596668" cy="5090583"/>
          </a:xfrm>
        </p:spPr>
        <p:txBody>
          <a:bodyPr>
            <a:noAutofit/>
          </a:bodyPr>
          <a:p>
            <a:pPr indent="0" marL="0">
              <a:buNone/>
            </a:pPr>
            <a:r>
              <a:rPr b="1" dirty="0" sz="1400" lang="en-IN" u="sng">
                <a:solidFill>
                  <a:srgbClr val="02A5E3"/>
                </a:solidFill>
              </a:rPr>
              <a:t>Module 1: Input</a:t>
            </a:r>
            <a:endParaRPr b="1" dirty="0" sz="1400" lang="en-IN" u="sng">
              <a:solidFill>
                <a:srgbClr val="02A5E3"/>
              </a:solidFill>
            </a:endParaRPr>
          </a:p>
          <a:p>
            <a:pPr indent="0" marL="0">
              <a:buNone/>
            </a:pPr>
            <a:r>
              <a:rPr dirty="0" sz="1100" lang="en-IN"/>
              <a:t>            int getFeatures() {</a:t>
            </a:r>
          </a:p>
          <a:p>
            <a:pPr indent="0" marL="0">
              <a:buNone/>
            </a:pPr>
            <a:r>
              <a:rPr dirty="0" sz="1100" lang="en-IN"/>
              <a:t>            int h, t, s, ht;</a:t>
            </a:r>
          </a:p>
          <a:p>
            <a:pPr indent="0" marL="0">
              <a:buNone/>
            </a:pPr>
            <a:r>
              <a:rPr dirty="0" sz="1100" lang="en-IN"/>
              <a:t>            printf("Enter Hair score (1-3): ");</a:t>
            </a:r>
          </a:p>
          <a:p>
            <a:pPr indent="0" marL="0">
              <a:buNone/>
            </a:pPr>
            <a:r>
              <a:rPr dirty="0" sz="1100" lang="en-IN"/>
              <a:t>            scanf("%d", &amp;h);</a:t>
            </a:r>
          </a:p>
          <a:p>
            <a:endParaRPr dirty="0" sz="1100" lang="en-IN"/>
          </a:p>
          <a:p>
            <a:pPr indent="0" marL="0">
              <a:buNone/>
            </a:pPr>
            <a:r>
              <a:rPr dirty="0" sz="1100" lang="en-IN"/>
              <a:t>            printf("Enter Teeth score (1-3): ");</a:t>
            </a:r>
          </a:p>
          <a:p>
            <a:pPr indent="0" marL="0">
              <a:buNone/>
            </a:pPr>
            <a:r>
              <a:rPr dirty="0" sz="1100" lang="en-IN"/>
              <a:t>            scanf("%d", &amp;t);</a:t>
            </a:r>
          </a:p>
          <a:p>
            <a:endParaRPr dirty="0" sz="1100" lang="en-IN"/>
          </a:p>
          <a:p>
            <a:pPr indent="0" marL="0">
              <a:buNone/>
            </a:pPr>
            <a:r>
              <a:rPr dirty="0" sz="1100" lang="en-IN"/>
              <a:t>            printf("Enter Skin score (1-3): ");</a:t>
            </a:r>
          </a:p>
          <a:p>
            <a:pPr indent="0" marL="0">
              <a:buNone/>
            </a:pPr>
            <a:r>
              <a:rPr dirty="0" sz="1100" lang="en-IN"/>
              <a:t>            scanf("%d", &amp;s);</a:t>
            </a:r>
          </a:p>
          <a:p>
            <a:endParaRPr dirty="0" sz="1100" lang="en-IN"/>
          </a:p>
          <a:p>
            <a:pPr indent="0" marL="0">
              <a:buNone/>
            </a:pPr>
            <a:r>
              <a:rPr dirty="0" sz="1100" lang="en-IN"/>
              <a:t>            printf("Enter Height score (1-3): ");</a:t>
            </a:r>
          </a:p>
          <a:p>
            <a:pPr indent="0" marL="0">
              <a:buNone/>
            </a:pPr>
            <a:r>
              <a:rPr dirty="0" sz="1100" lang="en-IN"/>
              <a:t>            scanf("%d", &amp;ht);</a:t>
            </a:r>
          </a:p>
          <a:p>
            <a:endParaRPr dirty="0" sz="1100" lang="en-IN"/>
          </a:p>
          <a:p>
            <a:pPr indent="0" marL="0">
              <a:buNone/>
            </a:pPr>
            <a:r>
              <a:rPr dirty="0" sz="1100" lang="en-IN"/>
              <a:t>           return h + t + s + ht;</a:t>
            </a:r>
          </a:p>
          <a:p>
            <a:pPr indent="0" marL="0">
              <a:buNone/>
            </a:pPr>
            <a:r>
              <a:rPr dirty="0" sz="1100" lang="en-IN"/>
              <a:t>           }</a:t>
            </a:r>
          </a:p>
          <a:p>
            <a:endParaRPr dirty="0" sz="1100"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Content Placeholder 4"/>
          <p:cNvSpPr>
            <a:spLocks noMove="1" noResize="1" noRot="1" noGrp="1" noAdjustHandles="1" noEditPoints="1" noChangeArrowheads="1" noChangeShapeType="1"/>
          </p:cNvSpPr>
          <p:nvPr>
            <p:ph idx="1"/>
          </p:nvPr>
        </p:nvSpPr>
        <p:spPr>
          <a:xfrm>
            <a:off x="2623746" y="404236"/>
            <a:ext cx="9164855" cy="5871878"/>
          </a:xfrm>
        </p:spPr>
        <p:txBody>
          <a:bodyPr>
            <a:normAutofit/>
          </a:bodyPr>
          <a:p>
            <a:pPr>
              <a:buFont typeface="Wingdings" charset="2"/>
              <a:buChar char="l"/>
            </a:pPr>
            <a:r>
              <a:rPr b="1" dirty="0" lang="en-IN" u="sng">
                <a:solidFill>
                  <a:srgbClr val="02A5E3"/>
                </a:solidFill>
              </a:rPr>
              <a:t>Module 2</a:t>
            </a:r>
            <a:r>
              <a:rPr b="1" dirty="0" lang="en-IN" u="sng">
                <a:solidFill>
                  <a:srgbClr val="02A5E3"/>
                </a:solidFill>
              </a:rPr>
              <a:t>: </a:t>
            </a:r>
            <a:r>
              <a:rPr b="1" dirty="0" lang="en-IN" u="sng">
                <a:solidFill>
                  <a:srgbClr val="02A5E3"/>
                </a:solidFill>
              </a:rPr>
              <a:t>Calculation</a:t>
            </a:r>
            <a:endParaRPr b="1" dirty="0" lang="en-IN" u="sng">
              <a:solidFill>
                <a:srgbClr val="02A5E3"/>
              </a:solidFill>
            </a:endParaRPr>
          </a:p>
          <a:p>
            <a:pPr indent="0" marL="0">
              <a:buNone/>
            </a:pPr>
            <a:r>
              <a:rPr dirty="0" sz="1600" lang="en-IN"/>
              <a:t>    int calculateTotal(int score) {</a:t>
            </a:r>
          </a:p>
          <a:p>
            <a:pPr indent="0" marL="0">
              <a:buNone/>
            </a:pPr>
            <a:r>
              <a:rPr dirty="0" sz="1600" lang="en-IN"/>
              <a:t>         return score;</a:t>
            </a:r>
          </a:p>
          <a:p>
            <a:pPr indent="0" marL="0">
              <a:buNone/>
            </a:pPr>
            <a:r>
              <a:rPr dirty="0" sz="1600" lang="en-IN"/>
              <a:t>    }</a:t>
            </a:r>
          </a:p>
          <a:p>
            <a:pPr>
              <a:buFont typeface="Wingdings" charset="2"/>
              <a:buChar char="l"/>
            </a:pPr>
            <a:r>
              <a:rPr b="1" dirty="0" lang="en-IN" u="sng">
                <a:solidFill>
                  <a:srgbClr val="02A5E3"/>
                </a:solidFill>
              </a:rPr>
              <a:t>Module 3: Classification</a:t>
            </a:r>
            <a:endParaRPr b="1" dirty="0" lang="en-IN" u="sng">
              <a:solidFill>
                <a:srgbClr val="02A5E3"/>
              </a:solidFill>
            </a:endParaRPr>
          </a:p>
          <a:p>
            <a:pPr indent="0" marL="0">
              <a:buNone/>
            </a:pPr>
            <a:r>
              <a:rPr dirty="0" sz="1600" lang="en-IN"/>
              <a:t>    void classifyAgeGroup(int total) {</a:t>
            </a:r>
          </a:p>
          <a:p>
            <a:pPr indent="0" marL="0">
              <a:buNone/>
            </a:pPr>
            <a:r>
              <a:rPr dirty="0" sz="1600" lang="en-IN"/>
              <a:t>         if(total &lt;= 6)</a:t>
            </a:r>
          </a:p>
          <a:p>
            <a:pPr indent="0" marL="0">
              <a:buNone/>
            </a:pPr>
            <a:r>
              <a:rPr dirty="0" sz="1600" lang="en-IN"/>
              <a:t>              printf("\nAge Group: CHILD\n");</a:t>
            </a:r>
          </a:p>
          <a:p>
            <a:pPr indent="0" marL="0">
              <a:buNone/>
            </a:pPr>
            <a:r>
              <a:rPr dirty="0" sz="1600" lang="en-IN"/>
              <a:t>         else if(total &lt;= 9)</a:t>
            </a:r>
          </a:p>
          <a:p>
            <a:pPr indent="0" marL="0">
              <a:buNone/>
            </a:pPr>
            <a:r>
              <a:rPr dirty="0" sz="1600" lang="en-IN"/>
              <a:t>              printf("\nAge Group: TEENAGER\n");</a:t>
            </a:r>
          </a:p>
          <a:p>
            <a:pPr indent="0" marL="0">
              <a:buNone/>
            </a:pPr>
            <a:r>
              <a:rPr dirty="0" sz="1600" lang="en-IN"/>
              <a:t>         else if(total &lt;= 11)</a:t>
            </a:r>
          </a:p>
          <a:p>
            <a:pPr indent="0" marL="0">
              <a:buNone/>
            </a:pPr>
            <a:r>
              <a:rPr dirty="0" sz="1600" lang="en-IN"/>
              <a:t>             printf("\nAge Group: ADULT\n");</a:t>
            </a:r>
          </a:p>
          <a:p>
            <a:pPr indent="0" marL="0">
              <a:buNone/>
            </a:pPr>
            <a:r>
              <a:rPr dirty="0" sz="1600" lang="en-IN"/>
              <a:t>         else</a:t>
            </a:r>
          </a:p>
          <a:p>
            <a:pPr indent="0" marL="0">
              <a:buNone/>
            </a:pPr>
            <a:r>
              <a:rPr dirty="0" sz="1600" lang="en-IN"/>
              <a:t>             printf("\nAge Group: SENIOR CITIZEN\n");</a:t>
            </a:r>
          </a:p>
          <a:p>
            <a:pPr indent="0" marL="0">
              <a:buNone/>
            </a:pPr>
            <a:r>
              <a:rPr dirty="0" sz="1600" lang="en-IN"/>
              <a:t>    }</a:t>
            </a:r>
          </a:p>
          <a:p>
            <a:endParaRPr dirty="0" sz="1200" lang="en-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7" name="Title 1"/>
          <p:cNvSpPr>
            <a:spLocks noMove="1" noResize="1" noRot="1" noGrp="1" noAdjustHandles="1" noEditPoints="1" noChangeArrowheads="1" noChangeShapeType="1"/>
          </p:cNvSpPr>
          <p:nvPr>
            <p:ph type="title"/>
          </p:nvPr>
        </p:nvSpPr>
        <p:spPr>
          <a:xfrm>
            <a:off x="2809875" y="336550"/>
            <a:ext cx="8597727" cy="447827"/>
          </a:xfrm>
        </p:spPr>
        <p:txBody>
          <a:bodyPr>
            <a:noAutofit/>
          </a:bodyPr>
          <a:p>
            <a:r>
              <a:rPr dirty="0" sz="2800" lang="en-IN" u="sng">
                <a:solidFill>
                  <a:srgbClr val="0070C0"/>
                </a:solidFill>
              </a:rPr>
              <a:t>Modules Integration </a:t>
            </a:r>
            <a:endParaRPr dirty="0" sz="2800" lang="en-IN" u="sng">
              <a:solidFill>
                <a:srgbClr val="0070C0"/>
              </a:solidFill>
            </a:endParaRPr>
          </a:p>
        </p:txBody>
      </p:sp>
      <p:sp>
        <p:nvSpPr>
          <p:cNvPr id="1048648" name="TextBox 11"/>
          <p:cNvSpPr txBox="1">
            <a:spLocks noMove="1" noResize="1" noRot="1" noGrp="1" noAdjustHandles="1" noEditPoints="1" noChangeArrowheads="1" noChangeShapeType="1"/>
          </p:cNvSpPr>
          <p:nvPr/>
        </p:nvSpPr>
        <p:spPr>
          <a:xfrm>
            <a:off x="4058622" y="1036108"/>
            <a:ext cx="6100232" cy="5374641"/>
          </a:xfrm>
          <a:prstGeom prst="rect"/>
          <a:noFill/>
        </p:spPr>
        <p:txBody>
          <a:bodyPr wrap="square">
            <a:spAutoFit/>
          </a:bodyPr>
          <a:p>
            <a:pPr indent="-285750" marL="285750">
              <a:buFont typeface="Wingdings" charset="2"/>
              <a:buChar char="l"/>
            </a:pPr>
            <a:r>
              <a:rPr dirty="0" sz="1400" lang="en-IN"/>
              <a:t>#include &lt;stdio.h&gt;</a:t>
            </a:r>
          </a:p>
          <a:p>
            <a:pPr indent="-285750" marL="285750">
              <a:buFont typeface="Wingdings" charset="2"/>
              <a:buChar char="l"/>
            </a:pPr>
            <a:endParaRPr dirty="0" sz="1400" lang="en-IN"/>
          </a:p>
          <a:p>
            <a:pPr indent="-285750" marL="285750">
              <a:buFont typeface="Wingdings" charset="2"/>
              <a:buChar char="l"/>
            </a:pPr>
            <a:r>
              <a:rPr dirty="0" sz="1400" lang="en-IN"/>
              <a:t>int getFeatures();</a:t>
            </a:r>
          </a:p>
          <a:p>
            <a:pPr indent="-285750" marL="285750">
              <a:buFont typeface="Wingdings" charset="2"/>
              <a:buChar char="l"/>
            </a:pPr>
            <a:r>
              <a:rPr dirty="0" sz="1400" lang="en-IN"/>
              <a:t>int calculateTotal(int score);</a:t>
            </a:r>
          </a:p>
          <a:p>
            <a:pPr indent="-285750" marL="285750">
              <a:buFont typeface="Wingdings" charset="2"/>
              <a:buChar char="l"/>
            </a:pPr>
            <a:r>
              <a:rPr dirty="0" sz="1400" lang="en-IN"/>
              <a:t>void classifyAgeGroup(int total);</a:t>
            </a:r>
          </a:p>
          <a:p>
            <a:pPr indent="-285750" marL="285750">
              <a:buFont typeface="Wingdings" charset="2"/>
              <a:buChar char="l"/>
            </a:pPr>
            <a:endParaRPr dirty="0" sz="1400" lang="en-IN"/>
          </a:p>
          <a:p>
            <a:pPr indent="-285750" marL="285750">
              <a:buFont typeface="Wingdings" charset="2"/>
              <a:buChar char="l"/>
            </a:pPr>
            <a:r>
              <a:rPr dirty="0" sz="1400" lang="en-IN"/>
              <a:t>int main() {</a:t>
            </a:r>
          </a:p>
          <a:p>
            <a:pPr indent="-285750" marL="285750">
              <a:buFont typeface="Wingdings" charset="2"/>
              <a:buChar char="l"/>
            </a:pPr>
            <a:r>
              <a:rPr dirty="0" sz="1400" lang="en-IN"/>
              <a:t>    int featureScore, total;</a:t>
            </a:r>
          </a:p>
          <a:p>
            <a:pPr indent="-285750" marL="285750">
              <a:buFont typeface="Wingdings" charset="2"/>
              <a:buChar char="l"/>
            </a:pPr>
            <a:endParaRPr dirty="0" sz="1400" lang="en-IN"/>
          </a:p>
          <a:p>
            <a:pPr indent="-285750" marL="285750">
              <a:buFont typeface="Wingdings" charset="2"/>
              <a:buChar char="l"/>
            </a:pPr>
            <a:r>
              <a:rPr dirty="0" sz="1400" lang="en-IN"/>
              <a:t>    printf("\n--- AGE GROUP CLASSIFIER (Feature Based) ---\n");</a:t>
            </a:r>
          </a:p>
          <a:p>
            <a:pPr indent="-285750" marL="285750">
              <a:buFont typeface="Wingdings" charset="2"/>
              <a:buChar char="l"/>
            </a:pPr>
            <a:endParaRPr dirty="0" sz="1400" lang="en-IN"/>
          </a:p>
          <a:p>
            <a:pPr indent="-285750" marL="285750">
              <a:buFont typeface="Wingdings" charset="2"/>
              <a:buChar char="l"/>
            </a:pPr>
            <a:r>
              <a:rPr dirty="0" sz="1400" lang="en-IN"/>
              <a:t>    featureScore = getFeatures();</a:t>
            </a:r>
          </a:p>
          <a:p>
            <a:pPr indent="-285750" marL="285750">
              <a:buFont typeface="Wingdings" charset="2"/>
              <a:buChar char="l"/>
            </a:pPr>
            <a:r>
              <a:rPr dirty="0" sz="1400" lang="en-IN"/>
              <a:t>    total = calculateTotal(featureScore);</a:t>
            </a:r>
          </a:p>
          <a:p>
            <a:pPr indent="-285750" marL="285750">
              <a:buFont typeface="Wingdings" charset="2"/>
              <a:buChar char="l"/>
            </a:pPr>
            <a:endParaRPr dirty="0" sz="1400" lang="en-IN"/>
          </a:p>
          <a:p>
            <a:pPr indent="-285750" marL="285750">
              <a:buFont typeface="Wingdings" charset="2"/>
              <a:buChar char="l"/>
            </a:pPr>
            <a:r>
              <a:rPr dirty="0" sz="1400" lang="en-IN"/>
              <a:t>    printf("\nTotal Feature Score = %d", total);</a:t>
            </a:r>
          </a:p>
          <a:p>
            <a:pPr indent="-285750" marL="285750">
              <a:buFont typeface="Wingdings" charset="2"/>
              <a:buChar char="l"/>
            </a:pPr>
            <a:endParaRPr dirty="0" sz="1400" lang="en-IN"/>
          </a:p>
          <a:p>
            <a:pPr indent="-285750" marL="285750">
              <a:buFont typeface="Wingdings" charset="2"/>
              <a:buChar char="l"/>
            </a:pPr>
            <a:r>
              <a:rPr dirty="0" sz="1400" lang="en-IN"/>
              <a:t>    classifyAgeGroup(total);</a:t>
            </a:r>
          </a:p>
          <a:p>
            <a:pPr indent="-285750" marL="285750">
              <a:buFont typeface="Wingdings" charset="2"/>
              <a:buChar char="l"/>
            </a:pPr>
            <a:endParaRPr dirty="0" sz="1400" lang="en-IN"/>
          </a:p>
          <a:p>
            <a:pPr indent="-285750" marL="285750">
              <a:buFont typeface="Wingdings" charset="2"/>
              <a:buChar char="l"/>
            </a:pPr>
            <a:r>
              <a:rPr dirty="0" sz="1400" lang="en-IN"/>
              <a:t>    return 0;</a:t>
            </a:r>
          </a:p>
          <a:p>
            <a:pPr indent="-285750" marL="285750">
              <a:buFont typeface="Wingdings" charset="2"/>
              <a:buChar char="l"/>
            </a:pPr>
            <a:r>
              <a:rPr dirty="0" sz="1400" lang="en-IN"/>
              <a:t>}</a:t>
            </a:r>
          </a:p>
          <a:p>
            <a:pPr indent="-285750" marL="285750">
              <a:buFont typeface="Wingdings" charset="2"/>
              <a:buChar char="l"/>
            </a:pPr>
            <a:endParaRPr dirty="0" sz="1400" lang="en-IN"/>
          </a:p>
          <a:p>
            <a:pPr indent="-285750" marL="285750">
              <a:buFont typeface="Wingdings" charset="2"/>
              <a:buChar char="l"/>
            </a:pPr>
            <a:r>
              <a:rPr dirty="0" sz="1400" lang="en-IN"/>
              <a:t>int getFeatures() {</a:t>
            </a:r>
          </a:p>
          <a:p>
            <a:pPr indent="-285750" marL="285750">
              <a:buFont typeface="Wingdings" charset="2"/>
              <a:buChar char="l"/>
            </a:pPr>
            <a:r>
              <a:rPr dirty="0" sz="1400" lang="en-IN"/>
              <a:t>    int h, t, s, ht;</a:t>
            </a:r>
          </a:p>
          <a:p>
            <a:pPr indent="-285750" marL="285750">
              <a:buFont typeface="Wingdings" charset="2"/>
              <a:buChar char="l"/>
            </a:pPr>
            <a:r>
              <a:rPr dirty="0" sz="1400" lang="en-IN"/>
              <a:t>    </a:t>
            </a:r>
          </a:p>
          <a:p>
            <a:pPr indent="-285750" marL="285750">
              <a:buFont typeface="Wingdings" charset="2"/>
              <a:buChar char="l"/>
            </a:pPr>
            <a:r>
              <a:rPr dirty="0" sz="1400" lang="en-IN"/>
              <a:t>    printf("\nEnter Hair score (1-3): ");</a:t>
            </a:r>
          </a:p>
          <a:p>
            <a:pPr indent="-285750" marL="285750">
              <a:buFont typeface="Wingdings" charset="2"/>
              <a:buChar char="l"/>
            </a:pPr>
            <a:r>
              <a:rPr dirty="0" sz="1400" lang="en-IN"/>
              <a:t>    scanf("%d", &amp;h);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9" name="Content Placeholder 2"/>
          <p:cNvSpPr>
            <a:spLocks noMove="1" noResize="1" noRot="1" noGrp="1" noAdjustHandles="1" noEditPoints="1" noChangeArrowheads="1" noChangeShapeType="1"/>
          </p:cNvSpPr>
          <p:nvPr>
            <p:ph idx="1"/>
          </p:nvPr>
        </p:nvSpPr>
        <p:spPr>
          <a:xfrm>
            <a:off x="2510068" y="411774"/>
            <a:ext cx="11358601" cy="5908715"/>
          </a:xfrm>
        </p:spPr>
        <p:txBody>
          <a:bodyPr>
            <a:noAutofit/>
          </a:bodyPr>
          <a:p>
            <a:pPr>
              <a:buFont typeface="Wingdings" charset="2"/>
              <a:buChar char="l"/>
            </a:pPr>
            <a:r>
              <a:rPr dirty="0" sz="2000" lang="en-IN"/>
              <a:t>printf("Enter Teeth score (1-3): ");</a:t>
            </a:r>
            <a:endParaRPr dirty="0" sz="2000" lang="en-IN"/>
          </a:p>
          <a:p>
            <a:pPr>
              <a:buFont typeface="Wingdings" charset="2"/>
              <a:buChar char="l"/>
            </a:pPr>
            <a:r>
              <a:rPr dirty="0" sz="2000" lang="en-IN"/>
              <a:t>    scanf("%d", &amp;t);</a:t>
            </a:r>
            <a:endParaRPr dirty="0" sz="2000" lang="en-IN"/>
          </a:p>
          <a:p>
            <a:pPr>
              <a:buFont typeface="Wingdings" charset="2"/>
              <a:buChar char="l"/>
            </a:pPr>
            <a:endParaRPr dirty="0" sz="2000" lang="en-IN"/>
          </a:p>
          <a:p>
            <a:pPr>
              <a:buFont typeface="Wingdings" charset="2"/>
              <a:buChar char="l"/>
            </a:pPr>
            <a:r>
              <a:rPr dirty="0" sz="2000" lang="en-IN"/>
              <a:t>    printf("Enter Skin score (1-3): ");</a:t>
            </a:r>
            <a:endParaRPr dirty="0" sz="2000" lang="en-IN"/>
          </a:p>
          <a:p>
            <a:pPr>
              <a:buFont typeface="Wingdings" charset="2"/>
              <a:buChar char="l"/>
            </a:pPr>
            <a:r>
              <a:rPr dirty="0" sz="2000" lang="en-IN"/>
              <a:t>    scanf("%d", &amp;s);</a:t>
            </a:r>
            <a:endParaRPr dirty="0" sz="2000" lang="en-IN"/>
          </a:p>
          <a:p>
            <a:pPr>
              <a:buFont typeface="Wingdings" charset="2"/>
              <a:buChar char="l"/>
            </a:pPr>
            <a:endParaRPr dirty="0" sz="2000" lang="en-IN"/>
          </a:p>
          <a:p>
            <a:pPr>
              <a:buFont typeface="Wingdings" charset="2"/>
              <a:buChar char="l"/>
            </a:pPr>
            <a:r>
              <a:rPr dirty="0" sz="2000" lang="en-IN"/>
              <a:t>    printf("Enter Height score (1-3): ");</a:t>
            </a:r>
            <a:endParaRPr dirty="0" sz="2000" lang="en-IN"/>
          </a:p>
          <a:p>
            <a:pPr>
              <a:buFont typeface="Wingdings" charset="2"/>
              <a:buChar char="l"/>
            </a:pPr>
            <a:r>
              <a:rPr dirty="0" sz="2000" lang="en-IN"/>
              <a:t>    scanf("%d", &amp;ht);</a:t>
            </a:r>
            <a:endParaRPr dirty="0" sz="2000" lang="en-IN"/>
          </a:p>
          <a:p>
            <a:pPr>
              <a:buFont typeface="Wingdings" charset="2"/>
              <a:buChar char="l"/>
            </a:pPr>
            <a:endParaRPr dirty="0" sz="2000" lang="en-IN"/>
          </a:p>
          <a:p>
            <a:pPr>
              <a:buFont typeface="Wingdings" charset="2"/>
              <a:buChar char="l"/>
            </a:pPr>
            <a:r>
              <a:rPr dirty="0" sz="2000" lang="en-IN"/>
              <a:t>    return h + t + s + ht;</a:t>
            </a:r>
            <a:endParaRPr dirty="0" sz="2000" lang="en-IN"/>
          </a:p>
          <a:p>
            <a:pPr>
              <a:buFont typeface="Wingdings" charset="2"/>
              <a:buChar char="l"/>
            </a:pPr>
            <a:r>
              <a:rPr dirty="0" sz="2000" lang="en-IN"/>
              <a:t>}</a:t>
            </a:r>
            <a:endParaRPr dirty="0" sz="2000" lang="en-IN"/>
          </a:p>
          <a:p>
            <a:pPr>
              <a:buFont typeface="Wingdings" charset="2"/>
              <a:buChar char="l"/>
            </a:pPr>
            <a:endParaRPr dirty="0" sz="2000" lang="en-IN"/>
          </a:p>
          <a:p>
            <a:pPr>
              <a:buFont typeface="Wingdings" charset="2"/>
              <a:buChar char="l"/>
            </a:pPr>
            <a:r>
              <a:rPr dirty="0" sz="2000" lang="en-IN"/>
              <a:t>int calculateTotal(int score) {</a:t>
            </a:r>
            <a:endParaRPr dirty="0" sz="2000" lang="en-IN"/>
          </a:p>
          <a:p>
            <a:pPr>
              <a:buFont typeface="Wingdings" charset="2"/>
              <a:buChar char="l"/>
            </a:pPr>
            <a:r>
              <a:rPr dirty="0" sz="2000" lang="en-IN"/>
              <a:t>    return score;</a:t>
            </a:r>
            <a:endParaRPr dirty="0" sz="2000" lang="en-IN"/>
          </a:p>
          <a:p>
            <a:pPr>
              <a:buFont typeface="Wingdings" charset="2"/>
              <a:buChar char="l"/>
            </a:pPr>
            <a:r>
              <a:rPr dirty="0" sz="2000" lang="en-IN"/>
              <a:t>}</a:t>
            </a:r>
            <a:endParaRPr dirty="0" sz="2000" lang="en-IN"/>
          </a:p>
          <a:p>
            <a:pPr>
              <a:buFont typeface="Wingdings" charset="2"/>
              <a:buChar char="l"/>
            </a:pPr>
            <a:endParaRPr dirty="0" sz="2000" lang="en-I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Content Placeholder 2"/>
          <p:cNvSpPr>
            <a:spLocks noMove="1" noResize="1" noRot="1" noGrp="1" noAdjustHandles="1" noEditPoints="1" noChangeArrowheads="1" noChangeShapeType="1"/>
          </p:cNvSpPr>
          <p:nvPr>
            <p:ph idx="1"/>
          </p:nvPr>
        </p:nvSpPr>
        <p:spPr>
          <a:xfrm>
            <a:off x="2622828" y="648637"/>
            <a:ext cx="8596668" cy="5560726"/>
          </a:xfrm>
        </p:spPr>
        <p:txBody>
          <a:bodyPr/>
          <a:p>
            <a:pPr>
              <a:buFont typeface="Wingdings" charset="2"/>
              <a:buChar char="l"/>
            </a:pPr>
            <a:r>
              <a:rPr dirty="0" sz="2800" lang="en-IN"/>
              <a:t>void classifyAgeGroup(int total) {</a:t>
            </a:r>
            <a:endParaRPr dirty="0" sz="2800" lang="en-IN"/>
          </a:p>
          <a:p>
            <a:pPr>
              <a:buFont typeface="Wingdings" charset="2"/>
              <a:buChar char="l"/>
            </a:pPr>
            <a:r>
              <a:rPr dirty="0" sz="2800" lang="en-IN"/>
              <a:t>    if(total &lt;= 6)</a:t>
            </a:r>
            <a:endParaRPr dirty="0" sz="2800" lang="en-IN"/>
          </a:p>
          <a:p>
            <a:pPr>
              <a:buFont typeface="Wingdings" charset="2"/>
              <a:buChar char="l"/>
            </a:pPr>
            <a:r>
              <a:rPr dirty="0" sz="2800" lang="en-IN"/>
              <a:t>        printf("\nAge Group: CHILD\n");</a:t>
            </a:r>
            <a:endParaRPr dirty="0" sz="2800" lang="en-IN"/>
          </a:p>
          <a:p>
            <a:pPr>
              <a:buFont typeface="Wingdings" charset="2"/>
              <a:buChar char="l"/>
            </a:pPr>
            <a:r>
              <a:rPr dirty="0" sz="2800" lang="en-IN"/>
              <a:t>    else if(total &lt;= 9)</a:t>
            </a:r>
            <a:endParaRPr dirty="0" sz="2800" lang="en-IN"/>
          </a:p>
          <a:p>
            <a:pPr>
              <a:buFont typeface="Wingdings" charset="2"/>
              <a:buChar char="l"/>
            </a:pPr>
            <a:r>
              <a:rPr dirty="0" sz="2800" lang="en-IN"/>
              <a:t>        printf("\nAge Group: TEENAGER\n");</a:t>
            </a:r>
            <a:endParaRPr dirty="0" sz="2800" lang="en-IN"/>
          </a:p>
          <a:p>
            <a:pPr>
              <a:buFont typeface="Wingdings" charset="2"/>
              <a:buChar char="l"/>
            </a:pPr>
            <a:r>
              <a:rPr dirty="0" sz="2800" lang="en-IN"/>
              <a:t>    else if(total &lt;= 11)</a:t>
            </a:r>
            <a:endParaRPr dirty="0" sz="2800" lang="en-IN"/>
          </a:p>
          <a:p>
            <a:pPr>
              <a:buFont typeface="Wingdings" charset="2"/>
              <a:buChar char="l"/>
            </a:pPr>
            <a:r>
              <a:rPr dirty="0" sz="2800" lang="en-IN"/>
              <a:t>        printf("\nAge Group: ADULT\n");</a:t>
            </a:r>
            <a:endParaRPr dirty="0" sz="2800" lang="en-IN"/>
          </a:p>
          <a:p>
            <a:pPr>
              <a:buFont typeface="Wingdings" charset="2"/>
              <a:buChar char="l"/>
            </a:pPr>
            <a:r>
              <a:rPr dirty="0" sz="2800" lang="en-IN"/>
              <a:t>    else</a:t>
            </a:r>
            <a:endParaRPr dirty="0" sz="2800" lang="en-IN"/>
          </a:p>
          <a:p>
            <a:pPr>
              <a:buFont typeface="Wingdings" charset="2"/>
              <a:buChar char="l"/>
            </a:pPr>
            <a:r>
              <a:rPr dirty="0" sz="2800" lang="en-IN"/>
              <a:t>        printf("\nAge Group: SENIOR CITIZEN\n");</a:t>
            </a:r>
            <a:endParaRPr dirty="0" sz="2800" lang="en-IN"/>
          </a:p>
          <a:p>
            <a:pPr>
              <a:buFont typeface="Wingdings" charset="2"/>
              <a:buChar char="l"/>
            </a:pPr>
            <a:r>
              <a:rPr dirty="0" sz="2800" lang="en-IN"/>
              <a:t>}</a:t>
            </a:r>
            <a:endParaRPr dirty="0" sz="2800" lang="en-IN"/>
          </a:p>
          <a:p>
            <a:pPr>
              <a:buFont typeface="Wingdings" charset="2"/>
              <a:buChar char="l"/>
            </a:pPr>
            <a:endParaRPr dirty="0" sz="2800" lang="en-I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"/>
          <p:cNvSpPr txBox="1"/>
          <p:nvPr/>
        </p:nvSpPr>
        <p:spPr>
          <a:xfrm>
            <a:off x="3162102" y="788893"/>
            <a:ext cx="5270806" cy="688340"/>
          </a:xfrm>
          <a:prstGeom prst="rect"/>
        </p:spPr>
        <p:txBody>
          <a:bodyPr rtlCol="0" wrap="square">
            <a:spAutoFit/>
          </a:bodyPr>
          <a:p>
            <a:r>
              <a:rPr sz="4000" lang="en-US" u="sng">
                <a:solidFill>
                  <a:srgbClr val="0070C0"/>
                </a:solidFill>
              </a:rPr>
              <a:t>E</a:t>
            </a:r>
            <a:r>
              <a:rPr sz="4000" lang="en-US" u="sng">
                <a:solidFill>
                  <a:srgbClr val="0070C0"/>
                </a:solidFill>
              </a:rPr>
              <a:t>x</a:t>
            </a:r>
            <a:r>
              <a:rPr sz="4000" lang="en-US" u="sng">
                <a:solidFill>
                  <a:srgbClr val="0070C0"/>
                </a:solidFill>
              </a:rPr>
              <a:t>e</a:t>
            </a:r>
            <a:r>
              <a:rPr sz="4000" lang="en-US" u="sng">
                <a:solidFill>
                  <a:srgbClr val="0070C0"/>
                </a:solidFill>
              </a:rPr>
              <a:t>cution </a:t>
            </a:r>
            <a:r>
              <a:rPr sz="4000" lang="en-US" u="sng">
                <a:solidFill>
                  <a:srgbClr val="0070C0"/>
                </a:solidFill>
              </a:rPr>
              <a:t>&amp;</a:t>
            </a:r>
            <a:r>
              <a:rPr sz="4000" lang="en-US" u="sng">
                <a:solidFill>
                  <a:srgbClr val="0070C0"/>
                </a:solidFill>
              </a:rPr>
              <a:t> output </a:t>
            </a:r>
            <a:endParaRPr sz="4000" lang="en-US" u="sng">
              <a:solidFill>
                <a:srgbClr val="0070C0"/>
              </a:solidFill>
            </a:endParaRPr>
          </a:p>
        </p:txBody>
      </p:sp>
      <p:sp>
        <p:nvSpPr>
          <p:cNvPr id="1048655" name="Content Placeholder 4"/>
          <p:cNvSpPr>
            <a:spLocks noMove="1" noResize="1" noRot="1" noGrp="1" noAdjustHandles="1" noEditPoints="1" noChangeArrowheads="1" noChangeShapeType="1"/>
          </p:cNvSpPr>
          <p:nvPr/>
        </p:nvSpPr>
        <p:spPr>
          <a:xfrm>
            <a:off x="3163359" y="1494639"/>
            <a:ext cx="9611834" cy="4913629"/>
          </a:xfrm>
          <a:prstGeom prst="rect"/>
        </p:spPr>
        <p:txBody>
          <a:bodyPr bIns="45720" lIns="91440" rIns="91440" rtlCol="0" tIns="45720" vert="horz">
            <a:normAutofit/>
          </a:bodyPr>
          <a:lstStyle>
            <a:lvl1pPr algn="l" defTabSz="457200" eaLnBrk="1" hangingPunct="1" indent="-342900" latinLnBrk="0" marL="342900" rtl="0"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defRPr sz="18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algn="l" defTabSz="457200" eaLnBrk="1" hangingPunct="1" indent="-285750" latinLnBrk="0" marL="742950" rtl="0"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defRPr sz="16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algn="l" defTabSz="457200" eaLnBrk="1" hangingPunct="1" indent="-228600" latinLnBrk="0" marL="1143000" rtl="0"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algn="l" defTabSz="457200" eaLnBrk="1" hangingPunct="1" indent="-228600" latinLnBrk="0" marL="1600200" rtl="0"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algn="l" defTabSz="457200" eaLnBrk="1" hangingPunct="1" indent="-228600" latinLnBrk="0" marL="2057400" rtl="0"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algn="l" defTabSz="457200" eaLnBrk="1" hangingPunct="1" indent="-228600" latinLnBrk="0" marL="2514600" rtl="0"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6pPr>
            <a:lvl7pPr algn="l" defTabSz="457200" eaLnBrk="1" hangingPunct="1" indent="-228600" latinLnBrk="0" marL="2971800" rtl="0"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7pPr>
            <a:lvl8pPr algn="l" defTabSz="457200" eaLnBrk="1" hangingPunct="1" indent="-228600" latinLnBrk="0" marL="3429000" rtl="0"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8pPr>
            <a:lvl9pPr algn="l" defTabSz="457200" eaLnBrk="1" hangingPunct="1" indent="-228600" latinLnBrk="0" marL="3886200" rtl="0"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marL="0">
              <a:buNone/>
            </a:pPr>
            <a:endParaRPr sz="2400"/>
          </a:p>
          <a:p>
            <a:pPr indent="0" marL="0">
              <a:buNone/>
            </a:pPr>
            <a:endParaRPr dirty="0" sz="2400" lang="en-IN"/>
          </a:p>
          <a:p>
            <a:pPr indent="0" marL="0">
              <a:buNone/>
            </a:pPr>
            <a:r>
              <a:rPr dirty="0" sz="2400" lang="en-US">
                <a:latin typeface="Tahoma"/>
              </a:rPr>
              <a:t>--- AGE GROUP CLASSIFIER (Feature Based) ---</a:t>
            </a:r>
            <a:endParaRPr dirty="0" sz="2400" lang="en-IN"/>
          </a:p>
          <a:p>
            <a:pPr indent="0" marL="0">
              <a:buNone/>
            </a:pPr>
            <a:r>
              <a:rPr dirty="0" sz="2400" lang="en-US">
                <a:latin typeface="Tahoma"/>
              </a:rPr>
              <a:t>Enter Hair score (1-3): 2</a:t>
            </a:r>
            <a:endParaRPr dirty="0" sz="2400" lang="en-IN"/>
          </a:p>
          <a:p>
            <a:pPr indent="0" marL="0">
              <a:buNone/>
            </a:pPr>
            <a:r>
              <a:rPr dirty="0" sz="2400" lang="en-US">
                <a:latin typeface="Tahoma"/>
              </a:rPr>
              <a:t>Enter Teeth score (1-3): 3</a:t>
            </a:r>
            <a:endParaRPr dirty="0" sz="2400" lang="en-IN"/>
          </a:p>
          <a:p>
            <a:pPr indent="0" marL="0">
              <a:buNone/>
            </a:pPr>
            <a:r>
              <a:rPr dirty="0" sz="2400" lang="en-US">
                <a:latin typeface="Tahoma"/>
              </a:rPr>
              <a:t>Enter Skin score (1-3): 2</a:t>
            </a:r>
            <a:endParaRPr dirty="0" sz="2400" lang="en-IN"/>
          </a:p>
          <a:p>
            <a:pPr indent="0" marL="0">
              <a:buNone/>
            </a:pPr>
            <a:r>
              <a:rPr dirty="0" sz="2400" lang="en-US">
                <a:latin typeface="Tahoma"/>
              </a:rPr>
              <a:t>Enter Height score (1-3): 3</a:t>
            </a:r>
            <a:endParaRPr dirty="0" sz="2400" lang="en-IN"/>
          </a:p>
          <a:p>
            <a:pPr indent="0" marL="0">
              <a:buNone/>
            </a:pPr>
            <a:r>
              <a:rPr dirty="0" sz="2400" lang="en-US">
                <a:latin typeface="Tahoma"/>
              </a:rPr>
              <a:t>Total Feature Score = 10</a:t>
            </a:r>
            <a:endParaRPr dirty="0" sz="2400" lang="en-IN"/>
          </a:p>
          <a:p>
            <a:pPr indent="0" marL="0">
              <a:buNone/>
            </a:pPr>
            <a:r>
              <a:rPr dirty="0" sz="2400" lang="en-US">
                <a:latin typeface="Tahoma"/>
              </a:rPr>
              <a:t>Age Group: ADULT</a:t>
            </a:r>
            <a:endParaRPr dirty="0" sz="2400" lang="en-I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"/>
          <p:cNvSpPr txBox="1"/>
          <p:nvPr/>
        </p:nvSpPr>
        <p:spPr>
          <a:xfrm>
            <a:off x="2345823" y="808575"/>
            <a:ext cx="5759119" cy="688339"/>
          </a:xfrm>
          <a:prstGeom prst="rect"/>
        </p:spPr>
        <p:txBody>
          <a:bodyPr rtlCol="0" wrap="square">
            <a:spAutoFit/>
          </a:bodyPr>
          <a:p>
            <a:r>
              <a:rPr sz="4000" lang="en-US" u="sng">
                <a:solidFill>
                  <a:srgbClr val="0070C0"/>
                </a:solidFill>
              </a:rPr>
              <a:t>R</a:t>
            </a:r>
            <a:r>
              <a:rPr sz="4000" lang="en-US" u="sng">
                <a:solidFill>
                  <a:srgbClr val="0070C0"/>
                </a:solidFill>
              </a:rPr>
              <a:t>e</a:t>
            </a:r>
            <a:r>
              <a:rPr sz="4000" lang="en-US" u="sng">
                <a:solidFill>
                  <a:srgbClr val="0070C0"/>
                </a:solidFill>
              </a:rPr>
              <a:t>s</a:t>
            </a:r>
            <a:r>
              <a:rPr sz="4000" lang="en-US" u="sng">
                <a:solidFill>
                  <a:srgbClr val="0070C0"/>
                </a:solidFill>
              </a:rPr>
              <a:t>u</a:t>
            </a:r>
            <a:r>
              <a:rPr sz="4000" lang="en-US" u="sng">
                <a:solidFill>
                  <a:srgbClr val="0070C0"/>
                </a:solidFill>
              </a:rPr>
              <a:t>lt</a:t>
            </a:r>
            <a:r>
              <a:rPr sz="4000" lang="en-US" u="sng">
                <a:solidFill>
                  <a:srgbClr val="0070C0"/>
                </a:solidFill>
              </a:rPr>
              <a:t> </a:t>
            </a:r>
            <a:r>
              <a:rPr sz="4000" lang="en-US" u="sng">
                <a:solidFill>
                  <a:srgbClr val="0070C0"/>
                </a:solidFill>
              </a:rPr>
              <a:t>:</a:t>
            </a:r>
            <a:endParaRPr sz="4000" lang="en-US" u="sng">
              <a:solidFill>
                <a:srgbClr val="0070C0"/>
              </a:solidFill>
            </a:endParaRPr>
          </a:p>
        </p:txBody>
      </p:sp>
      <p:grpSp>
        <p:nvGrpSpPr>
          <p:cNvPr id="63" name="组合 9"/>
          <p:cNvGrpSpPr/>
          <p:nvPr/>
        </p:nvGrpSpPr>
        <p:grpSpPr>
          <a:xfrm rot="21286464">
            <a:off x="4141971" y="1475638"/>
            <a:ext cx="4346726" cy="7405222"/>
            <a:chOff x="5632" y="647"/>
            <a:chExt cx="7937" cy="8585"/>
          </a:xfrm>
        </p:grpSpPr>
        <p:sp>
          <p:nvSpPr>
            <p:cNvPr id="1048657" name="文本框 6"/>
            <p:cNvSpPr txBox="1"/>
            <p:nvPr/>
          </p:nvSpPr>
          <p:spPr>
            <a:xfrm>
              <a:off x="5633" y="647"/>
              <a:ext cx="7935" cy="725"/>
            </a:xfrm>
            <a:prstGeom prst="rect"/>
          </p:spPr>
          <p:txBody>
            <a:bodyPr anchor="t" rtlCol="0" wrap="square">
              <a:noAutofit/>
            </a:bodyPr>
            <a:p>
              <a:pPr algn="l" fontAlgn="auto">
                <a:buNone/>
              </a:pPr>
              <a:r>
                <a:rPr altLang="en-US" sz="2400" lang="zh-CN">
                  <a:latin typeface="+mj-ea"/>
                  <a:ea typeface="+mj-ea"/>
                  <a:sym typeface="+mn-ea"/>
                </a:rPr>
                <a:t/>
              </a:r>
              <a:endParaRPr altLang="en-US" sz="2400" lang="zh-CN">
                <a:latin typeface="+mj-ea"/>
                <a:ea typeface="+mj-ea"/>
              </a:endParaRPr>
            </a:p>
          </p:txBody>
          <p:extLst>
            <p:ext uri="{D589DF8D-B311-4D76-A726-2CF4D000D303}">
              <wpsdc:modularGroupExt xmlns:wpsdc="http://www.wps.cn/officeDocument/2022/drawingmlCustomData" type="title" index="0"/>
            </p:ext>
          </p:extLst>
        </p:sp>
        <p:sp>
          <p:nvSpPr>
            <p:cNvPr id="1048658" name="文本框 11"/>
            <p:cNvSpPr txBox="1"/>
            <p:nvPr/>
          </p:nvSpPr>
          <p:spPr>
            <a:xfrm>
              <a:off x="5632" y="6292"/>
              <a:ext cx="7937" cy="2940"/>
            </a:xfrm>
            <a:prstGeom prst="rect"/>
          </p:spPr>
          <p:txBody>
            <a:bodyPr anchor="t" rtlCol="0" wrap="square">
              <a:noAutofit/>
            </a:bodyPr>
            <a:p>
              <a:pPr algn="l" fontAlgn="auto">
                <a:buNone/>
              </a:pPr>
              <a:r>
                <a:rPr altLang="en-US" sz="1600" lang="zh-CN">
                  <a:latin typeface="+mj-ea"/>
                  <a:ea typeface="+mj-ea"/>
                  <a:sym typeface="+mn-ea"/>
                </a:rPr>
                <a:t/>
              </a:r>
              <a:endParaRPr altLang="en-US" sz="1600" lang="zh-CN">
                <a:latin typeface="+mj-ea"/>
                <a:ea typeface="+mj-ea"/>
              </a:endParaRPr>
            </a:p>
          </p:txBody>
          <p:extLst>
            <p:ext uri="{D589DF8D-B311-4D76-A726-2CF4D000D303}">
              <wpsdc:modularGroupExt xmlns:wpsdc="http://www.wps.cn/officeDocument/2022/drawingmlCustomData" type="text" index="0"/>
            </p:ext>
          </p:extLst>
        </p:sp>
        <p:extLst>
          <p:ext uri="{D589DF8D-B311-4D76-A726-2CF4D000D303}">
            <wpsdc:modularGroupExt xmlns:wpsdc="http://www.wps.cn/officeDocument/2022/drawingmlCustomData" type="group" index="5"/>
          </p:ext>
        </p:extLst>
      </p:grpSp>
      <p:pic>
        <p:nvPicPr>
          <p:cNvPr id="2097154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10105">
            <a:off x="4685607" y="818505"/>
            <a:ext cx="6766666" cy="6187028"/>
          </a:xfrm>
          <a:prstGeom prst="rect"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"/>
          <p:cNvSpPr>
            <a:spLocks noGrp="1"/>
          </p:cNvSpPr>
          <p:nvPr>
            <p:ph type="title"/>
          </p:nvPr>
        </p:nvSpPr>
        <p:spPr>
          <a:xfrm>
            <a:off x="2084092" y="0"/>
            <a:ext cx="9439166" cy="1627392"/>
          </a:xfrm>
        </p:spPr>
        <p:txBody>
          <a:bodyPr/>
          <a:p>
            <a:r>
              <a:rPr sz="4000" lang="en-US" u="sng">
                <a:solidFill>
                  <a:srgbClr val="02A5E3"/>
                </a:solidFill>
              </a:rPr>
              <a:t>C</a:t>
            </a:r>
            <a:r>
              <a:rPr sz="4000" lang="en-US" u="sng">
                <a:solidFill>
                  <a:srgbClr val="02A5E3"/>
                </a:solidFill>
              </a:rPr>
              <a:t>O</a:t>
            </a:r>
            <a:r>
              <a:rPr sz="4000" lang="en-US" u="sng">
                <a:solidFill>
                  <a:srgbClr val="02A5E3"/>
                </a:solidFill>
              </a:rPr>
              <a:t>N</a:t>
            </a:r>
            <a:r>
              <a:rPr sz="4000" lang="en-US" u="sng">
                <a:solidFill>
                  <a:srgbClr val="02A5E3"/>
                </a:solidFill>
              </a:rPr>
              <a:t>C</a:t>
            </a:r>
            <a:r>
              <a:rPr sz="4000" lang="en-US" u="sng">
                <a:solidFill>
                  <a:srgbClr val="02A5E3"/>
                </a:solidFill>
              </a:rPr>
              <a:t>LUSION </a:t>
            </a:r>
            <a:endParaRPr sz="4000" lang="en-US" u="sng">
              <a:solidFill>
                <a:srgbClr val="02A5E3"/>
              </a:solidFill>
            </a:endParaRPr>
          </a:p>
        </p:txBody>
      </p:sp>
      <p:sp>
        <p:nvSpPr>
          <p:cNvPr id="1048668" name=""/>
          <p:cNvSpPr>
            <a:spLocks noGrp="1"/>
          </p:cNvSpPr>
          <p:nvPr>
            <p:ph type="body" idx="1"/>
          </p:nvPr>
        </p:nvSpPr>
        <p:spPr>
          <a:xfrm>
            <a:off x="1923968" y="2312542"/>
            <a:ext cx="9377677" cy="3352436"/>
          </a:xfrm>
        </p:spPr>
        <p:txBody>
          <a:bodyPr/>
          <a:p>
            <a:r>
              <a:rPr sz="3200" lang="en-US"/>
              <a:t>The Feature-Based Age Group Classifier accurately identifies age groups by analysing simple physical features and calculating a total score. This project effectively applies conditional statements and modular programming, making the classification process clear, simple, and efficient.</a:t>
            </a:r>
            <a:endParaRPr sz="3200" lang="en-US"/>
          </a:p>
          <a:p>
            <a:endParaRPr sz="3200"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9" name=""/>
          <p:cNvSpPr txBox="1"/>
          <p:nvPr/>
        </p:nvSpPr>
        <p:spPr>
          <a:xfrm>
            <a:off x="4479004" y="2932430"/>
            <a:ext cx="3799651" cy="993139"/>
          </a:xfrm>
          <a:prstGeom prst="rect"/>
        </p:spPr>
        <p:txBody>
          <a:bodyPr rtlCol="0" wrap="square">
            <a:spAutoFit/>
          </a:bodyPr>
          <a:p>
            <a:pPr algn="ctr"/>
            <a:r>
              <a:rPr sz="6000" lang="en-US">
                <a:solidFill>
                  <a:srgbClr val="02A5E3"/>
                </a:solidFill>
              </a:rPr>
              <a:t>T</a:t>
            </a:r>
            <a:r>
              <a:rPr sz="6000" lang="en-US">
                <a:solidFill>
                  <a:srgbClr val="02A5E3"/>
                </a:solidFill>
              </a:rPr>
              <a:t>h</a:t>
            </a:r>
            <a:r>
              <a:rPr sz="6000" lang="en-US">
                <a:solidFill>
                  <a:srgbClr val="02A5E3"/>
                </a:solidFill>
              </a:rPr>
              <a:t>a</a:t>
            </a:r>
            <a:r>
              <a:rPr sz="6000" lang="en-US">
                <a:solidFill>
                  <a:srgbClr val="02A5E3"/>
                </a:solidFill>
              </a:rPr>
              <a:t>nk </a:t>
            </a:r>
            <a:r>
              <a:rPr sz="6000" lang="en-US">
                <a:solidFill>
                  <a:srgbClr val="02A5E3"/>
                </a:solidFill>
              </a:rPr>
              <a:t>you </a:t>
            </a:r>
            <a:endParaRPr sz="6000" lang="en-US">
              <a:solidFill>
                <a:srgbClr val="02A5E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lastClr="000000" val="windowText"/>
      </a:dk1>
      <a:lt1>
        <a:sysClr lastClr="FFFFFF" val="window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r="5400000" dist="254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r="5400000" dist="381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l" rig="threePt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ALLAM JYOTHSNA PRIYANKA</dc:creator>
  <cp:lastModifiedBy>saidharaniyrl@gmail.com</cp:lastModifiedBy>
  <dcterms:created xsi:type="dcterms:W3CDTF">2025-11-26T19:11:55Z</dcterms:created>
  <dcterms:modified xsi:type="dcterms:W3CDTF">2025-12-13T17:04:54Z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61d96701a8514fce81c119e1c3c90c6b</vt:lpwstr>
  </property>
</Properties>
</file>